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JTulLmW1NkPIxv2H+T2dI8fxf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491AD2-6B3D-4428-A2BC-5B2185DF4C95}">
  <a:tblStyle styleId="{5A491AD2-6B3D-4428-A2BC-5B2185DF4C9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l-G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l-G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db62b715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db62b715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ddb62b715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db62b7156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ddb62b7156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28abe5f8d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28abe5f8d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e28abe5f8d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db62b715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db62b7156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ddb62b7156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db62b7156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db62b7156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db62b7156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b62b7156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db62b7156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ddb62b7156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db62b7156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db62b7156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ddb62b7156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1ff4b86d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e1ff4b86d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e1ff4b86d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2395259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2395259f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e2395259f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28abe5f8d_5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28abe5f8d_5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e28abe5f8d_5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l-G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ιαφάνεια τίτλου" showMasterSp="0" type="title">
  <p:cSld name="TITLE">
    <p:spTree>
      <p:nvGrpSpPr>
        <p:cNvPr id="16" name="Shape 16"/>
        <p:cNvGrpSpPr/>
        <p:nvPr/>
      </p:nvGrpSpPr>
      <p:grpSpPr>
        <a:xfrm>
          <a:off x="0" y="0"/>
          <a:ext cx="0" cy="0"/>
          <a:chOff x="0" y="0"/>
          <a:chExt cx="0" cy="0"/>
        </a:xfrm>
      </p:grpSpPr>
      <p:sp>
        <p:nvSpPr>
          <p:cNvPr id="17" name="Google Shape;17;p18"/>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 name="Google Shape;18;p1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9" name="Google Shape;19;p1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1" name="Google Shape;21;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24" name="Google Shape;24;p1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ό" showMasterSp="0" type="blank">
  <p:cSld name="BLANK">
    <p:spTree>
      <p:nvGrpSpPr>
        <p:cNvPr id="31" name="Shape 31"/>
        <p:cNvGrpSpPr/>
        <p:nvPr/>
      </p:nvGrpSpPr>
      <p:grpSpPr>
        <a:xfrm>
          <a:off x="0" y="0"/>
          <a:ext cx="0" cy="0"/>
          <a:chOff x="0" y="0"/>
          <a:chExt cx="0" cy="0"/>
        </a:xfrm>
      </p:grpSpPr>
      <p:sp>
        <p:nvSpPr>
          <p:cNvPr id="32" name="Google Shape;32;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showMasterSp="0" type="secHead">
  <p:cSld name="SECTION_HEADER">
    <p:spTree>
      <p:nvGrpSpPr>
        <p:cNvPr id="35" name="Shape 35"/>
        <p:cNvGrpSpPr/>
        <p:nvPr/>
      </p:nvGrpSpPr>
      <p:grpSpPr>
        <a:xfrm>
          <a:off x="0" y="0"/>
          <a:ext cx="0" cy="0"/>
          <a:chOff x="0" y="0"/>
          <a:chExt cx="0" cy="0"/>
        </a:xfrm>
      </p:grpSpPr>
      <p:sp>
        <p:nvSpPr>
          <p:cNvPr id="36" name="Google Shape;36;p21"/>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1"/>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1"/>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0" name="Google Shape;40;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43" name="Google Shape;43;p21"/>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44" name="Shape 44"/>
        <p:cNvGrpSpPr/>
        <p:nvPr/>
      </p:nvGrpSpPr>
      <p:grpSpPr>
        <a:xfrm>
          <a:off x="0" y="0"/>
          <a:ext cx="0" cy="0"/>
          <a:chOff x="0" y="0"/>
          <a:chExt cx="0" cy="0"/>
        </a:xfrm>
      </p:grpSpPr>
      <p:sp>
        <p:nvSpPr>
          <p:cNvPr id="45" name="Google Shape;45;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2"/>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51" name="Shape 51"/>
        <p:cNvGrpSpPr/>
        <p:nvPr/>
      </p:nvGrpSpPr>
      <p:grpSpPr>
        <a:xfrm>
          <a:off x="0" y="0"/>
          <a:ext cx="0" cy="0"/>
          <a:chOff x="0" y="0"/>
          <a:chExt cx="0" cy="0"/>
        </a:xfrm>
      </p:grpSpPr>
      <p:sp>
        <p:nvSpPr>
          <p:cNvPr id="52" name="Google Shape;52;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3"/>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3"/>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Calibri"/>
                <a:ea typeface="Calibri"/>
                <a:cs typeface="Calibri"/>
                <a:sym typeface="Calibri"/>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3"/>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60" name="Shape 60"/>
        <p:cNvGrpSpPr/>
        <p:nvPr/>
      </p:nvGrpSpPr>
      <p:grpSpPr>
        <a:xfrm>
          <a:off x="0" y="0"/>
          <a:ext cx="0" cy="0"/>
          <a:chOff x="0" y="0"/>
          <a:chExt cx="0" cy="0"/>
        </a:xfrm>
      </p:grpSpPr>
      <p:sp>
        <p:nvSpPr>
          <p:cNvPr id="61" name="Google Shape;61;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25"/>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showMasterSp="0" type="picTx">
  <p:cSld name="PICTURE_WITH_CAPTION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Calibri"/>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p:nvPr>
            <p:ph idx="2" type="pic"/>
          </p:nvPr>
        </p:nvSpPr>
        <p:spPr>
          <a:xfrm>
            <a:off x="0" y="-1"/>
            <a:ext cx="12188952" cy="4572000"/>
          </a:xfrm>
          <a:prstGeom prst="rect">
            <a:avLst/>
          </a:prstGeom>
          <a:solidFill>
            <a:srgbClr val="76CEEF"/>
          </a:solidFill>
          <a:ln>
            <a:noFill/>
          </a:ln>
        </p:spPr>
      </p:sp>
      <p:sp>
        <p:nvSpPr>
          <p:cNvPr id="75" name="Google Shape;75;p26"/>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79" name="Google Shape;79;p26"/>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7"/>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showMasterSp="0"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l-GR"/>
              <a:t>‹#›</a:t>
            </a:fld>
            <a:endParaRPr/>
          </a:p>
        </p:txBody>
      </p:sp>
      <p:cxnSp>
        <p:nvCxnSpPr>
          <p:cNvPr id="92" name="Google Shape;92;p28"/>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Calibri"/>
              <a:buNone/>
              <a:defRPr b="0" i="0" sz="5000" u="none" cap="none" strike="noStrike">
                <a:solidFill>
                  <a:srgbClr val="0C0C0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Calibri"/>
                <a:ea typeface="Calibri"/>
                <a:cs typeface="Calibri"/>
                <a:sym typeface="Calibri"/>
              </a:defRPr>
            </a:lvl1pPr>
            <a:lvl2pPr indent="0" lvl="1" marL="0" marR="0" rtl="0" algn="l">
              <a:spcBef>
                <a:spcPts val="0"/>
              </a:spcBef>
              <a:buNone/>
              <a:defRPr b="0" i="0" sz="1000" u="none" cap="none" strike="noStrike">
                <a:solidFill>
                  <a:srgbClr val="0C0C0C"/>
                </a:solidFill>
                <a:latin typeface="Calibri"/>
                <a:ea typeface="Calibri"/>
                <a:cs typeface="Calibri"/>
                <a:sym typeface="Calibri"/>
              </a:defRPr>
            </a:lvl2pPr>
            <a:lvl3pPr indent="0" lvl="2" marL="0" marR="0" rtl="0" algn="l">
              <a:spcBef>
                <a:spcPts val="0"/>
              </a:spcBef>
              <a:buNone/>
              <a:defRPr b="0" i="0" sz="1000" u="none" cap="none" strike="noStrike">
                <a:solidFill>
                  <a:srgbClr val="0C0C0C"/>
                </a:solidFill>
                <a:latin typeface="Calibri"/>
                <a:ea typeface="Calibri"/>
                <a:cs typeface="Calibri"/>
                <a:sym typeface="Calibri"/>
              </a:defRPr>
            </a:lvl3pPr>
            <a:lvl4pPr indent="0" lvl="3" marL="0" marR="0" rtl="0" algn="l">
              <a:spcBef>
                <a:spcPts val="0"/>
              </a:spcBef>
              <a:buNone/>
              <a:defRPr b="0" i="0" sz="1000" u="none" cap="none" strike="noStrike">
                <a:solidFill>
                  <a:srgbClr val="0C0C0C"/>
                </a:solidFill>
                <a:latin typeface="Calibri"/>
                <a:ea typeface="Calibri"/>
                <a:cs typeface="Calibri"/>
                <a:sym typeface="Calibri"/>
              </a:defRPr>
            </a:lvl4pPr>
            <a:lvl5pPr indent="0" lvl="4" marL="0" marR="0" rtl="0" algn="l">
              <a:spcBef>
                <a:spcPts val="0"/>
              </a:spcBef>
              <a:buNone/>
              <a:defRPr b="0" i="0" sz="1000" u="none" cap="none" strike="noStrike">
                <a:solidFill>
                  <a:srgbClr val="0C0C0C"/>
                </a:solidFill>
                <a:latin typeface="Calibri"/>
                <a:ea typeface="Calibri"/>
                <a:cs typeface="Calibri"/>
                <a:sym typeface="Calibri"/>
              </a:defRPr>
            </a:lvl5pPr>
            <a:lvl6pPr indent="0" lvl="5" marL="0" marR="0" rtl="0" algn="l">
              <a:spcBef>
                <a:spcPts val="0"/>
              </a:spcBef>
              <a:buNone/>
              <a:defRPr b="0" i="0" sz="1000" u="none" cap="none" strike="noStrike">
                <a:solidFill>
                  <a:srgbClr val="0C0C0C"/>
                </a:solidFill>
                <a:latin typeface="Calibri"/>
                <a:ea typeface="Calibri"/>
                <a:cs typeface="Calibri"/>
                <a:sym typeface="Calibri"/>
              </a:defRPr>
            </a:lvl6pPr>
            <a:lvl7pPr indent="0" lvl="6" marL="0" marR="0" rtl="0" algn="l">
              <a:spcBef>
                <a:spcPts val="0"/>
              </a:spcBef>
              <a:buNone/>
              <a:defRPr b="0" i="0" sz="1000" u="none" cap="none" strike="noStrike">
                <a:solidFill>
                  <a:srgbClr val="0C0C0C"/>
                </a:solidFill>
                <a:latin typeface="Calibri"/>
                <a:ea typeface="Calibri"/>
                <a:cs typeface="Calibri"/>
                <a:sym typeface="Calibri"/>
              </a:defRPr>
            </a:lvl7pPr>
            <a:lvl8pPr indent="0" lvl="7" marL="0" marR="0" rtl="0" algn="l">
              <a:spcBef>
                <a:spcPts val="0"/>
              </a:spcBef>
              <a:buNone/>
              <a:defRPr b="0" i="0" sz="1000" u="none" cap="none" strike="noStrike">
                <a:solidFill>
                  <a:srgbClr val="0C0C0C"/>
                </a:solidFill>
                <a:latin typeface="Calibri"/>
                <a:ea typeface="Calibri"/>
                <a:cs typeface="Calibri"/>
                <a:sym typeface="Calibri"/>
              </a:defRPr>
            </a:lvl8pPr>
            <a:lvl9pPr indent="0" lvl="8" marL="0" marR="0" rtl="0" algn="l">
              <a:spcBef>
                <a:spcPts val="0"/>
              </a:spcBef>
              <a:buNone/>
              <a:defRPr b="0" i="0" sz="1000" u="none" cap="none" strike="noStrike">
                <a:solidFill>
                  <a:srgbClr val="0C0C0C"/>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l-GR"/>
              <a:t>‹#›</a:t>
            </a:fld>
            <a:endParaRPr/>
          </a:p>
        </p:txBody>
      </p:sp>
      <p:cxnSp>
        <p:nvCxnSpPr>
          <p:cNvPr id="15" name="Google Shape;15;p1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9.png"/><Relationship Id="rId9"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hyperlink" Target="https://github.com/grgmyl/alibabacluster.gi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tensorflow.org/guide/keras/training_with_built_in_methods" TargetMode="External"/><Relationship Id="rId4" Type="http://schemas.openxmlformats.org/officeDocument/2006/relationships/hyperlink" Target="https://youtu.be/_kp19PIVuXc?si=P-ac59BgloZep-a8" TargetMode="External"/><Relationship Id="rId5" Type="http://schemas.openxmlformats.org/officeDocument/2006/relationships/hyperlink" Target="https://www.geeksforgeeks.org/deep-learning/transformer-model-from-scratch-using-tensorflo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
          <p:cNvSpPr/>
          <p:nvPr/>
        </p:nvSpPr>
        <p:spPr>
          <a:xfrm>
            <a:off x="3274"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9" name="Google Shape;99;p1"/>
          <p:cNvPicPr preferRelativeResize="0"/>
          <p:nvPr/>
        </p:nvPicPr>
        <p:blipFill rotWithShape="1">
          <a:blip r:embed="rId3">
            <a:alphaModFix/>
          </a:blip>
          <a:srcRect b="-1" l="0" r="52444" t="0"/>
          <a:stretch/>
        </p:blipFill>
        <p:spPr>
          <a:xfrm>
            <a:off x="20" y="975"/>
            <a:ext cx="12191980" cy="6858000"/>
          </a:xfrm>
          <a:prstGeom prst="rect">
            <a:avLst/>
          </a:prstGeom>
          <a:noFill/>
          <a:ln>
            <a:noFill/>
          </a:ln>
        </p:spPr>
      </p:pic>
      <p:sp>
        <p:nvSpPr>
          <p:cNvPr id="100" name="Google Shape;100;p1"/>
          <p:cNvSpPr/>
          <p:nvPr/>
        </p:nvSpPr>
        <p:spPr>
          <a:xfrm>
            <a:off x="3896786" y="3064931"/>
            <a:ext cx="8295215" cy="2488568"/>
          </a:xfrm>
          <a:prstGeom prst="rect">
            <a:avLst/>
          </a:prstGeom>
          <a:solidFill>
            <a:srgbClr val="000001">
              <a:alpha val="74901"/>
            </a:srgbClr>
          </a:solidFill>
          <a:ln>
            <a:noFill/>
          </a:ln>
          <a:effectLst>
            <a:outerShdw blurRad="50800" rotWithShape="0" algn="ctr" dir="5400000" dist="12700">
              <a:srgbClr val="000000">
                <a:alpha val="5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1"/>
          <p:cNvSpPr txBox="1"/>
          <p:nvPr>
            <p:ph type="ctrTitle"/>
          </p:nvPr>
        </p:nvSpPr>
        <p:spPr>
          <a:xfrm>
            <a:off x="4309349" y="3429000"/>
            <a:ext cx="7501651" cy="1090938"/>
          </a:xfrm>
          <a:prstGeom prst="rect">
            <a:avLst/>
          </a:prstGeom>
          <a:noFill/>
          <a:ln>
            <a:noFill/>
          </a:ln>
        </p:spPr>
        <p:txBody>
          <a:bodyPr anchorCtr="0" anchor="b" bIns="45700" lIns="91425" spcFirstLastPara="1" rIns="91425" wrap="square" tIns="45700">
            <a:normAutofit/>
          </a:bodyPr>
          <a:lstStyle/>
          <a:p>
            <a:pPr indent="0" lvl="0" marL="0" rtl="0" algn="just">
              <a:lnSpc>
                <a:spcPct val="80000"/>
              </a:lnSpc>
              <a:spcBef>
                <a:spcPts val="0"/>
              </a:spcBef>
              <a:spcAft>
                <a:spcPts val="0"/>
              </a:spcAft>
              <a:buClr>
                <a:srgbClr val="FFFFFF"/>
              </a:buClr>
              <a:buSzPts val="4000"/>
              <a:buFont typeface="Calibri"/>
              <a:buNone/>
            </a:pPr>
            <a:r>
              <a:rPr b="1" lang="el-GR" sz="4000">
                <a:solidFill>
                  <a:srgbClr val="FFFFFF"/>
                </a:solidFill>
              </a:rPr>
              <a:t>8.</a:t>
            </a:r>
            <a:r>
              <a:rPr b="1" lang="el-GR" sz="4000">
                <a:solidFill>
                  <a:srgbClr val="FFFFFF"/>
                </a:solidFill>
              </a:rPr>
              <a:t>ΠΡΟΒΛΕΨΗ ΧΡΗΣΗΣ ΠΟΡΩΝ ΣΤΟ ALIBABA CLUSTER SET</a:t>
            </a:r>
            <a:endParaRPr b="1" sz="4000">
              <a:solidFill>
                <a:srgbClr val="FFFFFF"/>
              </a:solidFill>
            </a:endParaRPr>
          </a:p>
        </p:txBody>
      </p:sp>
      <p:sp>
        <p:nvSpPr>
          <p:cNvPr id="102" name="Google Shape;102;p1"/>
          <p:cNvSpPr txBox="1"/>
          <p:nvPr>
            <p:ph idx="1" type="subTitle"/>
          </p:nvPr>
        </p:nvSpPr>
        <p:spPr>
          <a:xfrm>
            <a:off x="4309349" y="4779313"/>
            <a:ext cx="7501650" cy="51481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100000"/>
              <a:buNone/>
            </a:pPr>
            <a:r>
              <a:rPr lang="el-GR">
                <a:solidFill>
                  <a:srgbClr val="FFFFFF"/>
                </a:solidFill>
              </a:rPr>
              <a:t>Έλενα Βίτσιου,1100502</a:t>
            </a:r>
            <a:endParaRPr/>
          </a:p>
          <a:p>
            <a:pPr indent="0" lvl="0" marL="0" rtl="0" algn="l">
              <a:lnSpc>
                <a:spcPct val="100000"/>
              </a:lnSpc>
              <a:spcBef>
                <a:spcPts val="200"/>
              </a:spcBef>
              <a:spcAft>
                <a:spcPts val="0"/>
              </a:spcAft>
              <a:buSzPct val="100000"/>
              <a:buNone/>
            </a:pPr>
            <a:r>
              <a:rPr lang="el-GR">
                <a:solidFill>
                  <a:srgbClr val="FFFFFF"/>
                </a:solidFill>
              </a:rPr>
              <a:t>Γεωργία Μυλωνά,1104783</a:t>
            </a:r>
            <a:endParaRPr/>
          </a:p>
        </p:txBody>
      </p:sp>
      <p:cxnSp>
        <p:nvCxnSpPr>
          <p:cNvPr id="103" name="Google Shape;103;p1"/>
          <p:cNvCxnSpPr/>
          <p:nvPr/>
        </p:nvCxnSpPr>
        <p:spPr>
          <a:xfrm>
            <a:off x="4309349" y="4666480"/>
            <a:ext cx="6832499" cy="0"/>
          </a:xfrm>
          <a:prstGeom prst="straightConnector1">
            <a:avLst/>
          </a:prstGeom>
          <a:noFill/>
          <a:ln cap="flat" cmpd="sng" w="22225">
            <a:solidFill>
              <a:srgbClr val="4AC4E3"/>
            </a:solidFill>
            <a:prstDash val="solid"/>
            <a:round/>
            <a:headEnd len="sm" w="sm" type="none"/>
            <a:tailEnd len="sm" w="sm" type="none"/>
          </a:ln>
          <a:effectLst>
            <a:outerShdw blurRad="50800" rotWithShape="0" algn="ctr" dir="5400000" dist="12700">
              <a:srgbClr val="000000">
                <a:alpha val="50196"/>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2"/>
          <p:cNvSpPr txBox="1"/>
          <p:nvPr>
            <p:ph type="title"/>
          </p:nvPr>
        </p:nvSpPr>
        <p:spPr>
          <a:xfrm>
            <a:off x="1024125" y="585224"/>
            <a:ext cx="9720000" cy="12444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Σκοπός και στόχοι της εργασίας</a:t>
            </a:r>
            <a:endParaRPr/>
          </a:p>
        </p:txBody>
      </p:sp>
      <p:sp>
        <p:nvSpPr>
          <p:cNvPr id="110" name="Google Shape;110;p2"/>
          <p:cNvSpPr txBox="1"/>
          <p:nvPr>
            <p:ph idx="1" type="body"/>
          </p:nvPr>
        </p:nvSpPr>
        <p:spPr>
          <a:xfrm>
            <a:off x="439350" y="1890425"/>
            <a:ext cx="11313300" cy="4538100"/>
          </a:xfrm>
          <a:prstGeom prst="rect">
            <a:avLst/>
          </a:prstGeom>
          <a:noFill/>
          <a:ln>
            <a:noFill/>
          </a:ln>
          <a:effectLst>
            <a:reflection blurRad="0" dir="5400000" dist="38100" endA="0" fadeDir="5400012" kx="0" rotWithShape="0" algn="bl" stPos="0" sy="-100000" ky="0"/>
          </a:effectLst>
        </p:spPr>
        <p:txBody>
          <a:bodyPr anchorCtr="0" anchor="t" bIns="45700" lIns="45700" spcFirstLastPara="1" rIns="45700" wrap="square" tIns="82800">
            <a:noAutofit/>
          </a:bodyPr>
          <a:lstStyle/>
          <a:p>
            <a:pPr indent="0" lvl="0" marL="91440" rtl="0" algn="just">
              <a:lnSpc>
                <a:spcPct val="70000"/>
              </a:lnSpc>
              <a:spcBef>
                <a:spcPts val="1400"/>
              </a:spcBef>
              <a:spcAft>
                <a:spcPts val="0"/>
              </a:spcAft>
              <a:buNone/>
            </a:pPr>
            <a:r>
              <a:rPr b="1" lang="el-GR" sz="1710"/>
              <a:t>Σκοπός της εργασίας</a:t>
            </a:r>
            <a:endParaRPr b="1" sz="1710"/>
          </a:p>
          <a:p>
            <a:pPr indent="-337185" lvl="0" marL="457200" rtl="0" algn="just">
              <a:lnSpc>
                <a:spcPct val="115000"/>
              </a:lnSpc>
              <a:spcBef>
                <a:spcPts val="0"/>
              </a:spcBef>
              <a:spcAft>
                <a:spcPts val="0"/>
              </a:spcAft>
              <a:buSzPts val="1710"/>
              <a:buChar char="❏"/>
            </a:pPr>
            <a:r>
              <a:rPr lang="el-GR" sz="1710"/>
              <a:t>Η παρούσα εργασία επικεντρώνεται στην πρόβλεψη της χρήσης υπολογιστικών πόρων σε bare metal nodes, αξιοποιώντας δεδομένα χρονοσειρών από CPU και RAM.Στόχος είναι η ανάπτυξη και αξιολόγηση μοντέλων βαθιάς μάθησης που μπορούν να προβλέψουν με ακρίβεια τη μελλοντική χρήση πόρων, τόσο σε βραχυπρόθεσμο όσο και σε μακροπρόθεσμο horizon (αριθμός μελλοντικών timesteps που πρέπει να προβλεφθούν).Μέσα από αυτή τη διαδικασία επιδιώκεται η αποτελεσματικότερη διαχείριση πόρων σε σύγχρονα τηλεπικοινωνιακά και cloud περιβάλλοντα.</a:t>
            </a:r>
            <a:endParaRPr sz="1710"/>
          </a:p>
          <a:p>
            <a:pPr indent="0" lvl="0" marL="91440" rtl="0" algn="just">
              <a:lnSpc>
                <a:spcPct val="70000"/>
              </a:lnSpc>
              <a:spcBef>
                <a:spcPts val="1400"/>
              </a:spcBef>
              <a:spcAft>
                <a:spcPts val="0"/>
              </a:spcAft>
              <a:buNone/>
            </a:pPr>
            <a:r>
              <a:rPr b="1" lang="el-GR" sz="1710"/>
              <a:t>Στόχοι της εργασίας</a:t>
            </a:r>
            <a:endParaRPr sz="1710"/>
          </a:p>
          <a:p>
            <a:pPr indent="-337185" lvl="0" marL="457200" rtl="0" algn="just">
              <a:lnSpc>
                <a:spcPct val="95000"/>
              </a:lnSpc>
              <a:spcBef>
                <a:spcPts val="0"/>
              </a:spcBef>
              <a:spcAft>
                <a:spcPts val="0"/>
              </a:spcAft>
              <a:buSzPts val="1710"/>
              <a:buFont typeface="Calibri"/>
              <a:buChar char="❏"/>
            </a:pPr>
            <a:r>
              <a:rPr lang="el-GR" sz="1710"/>
              <a:t>Ανάλυση και προεπεξεργασία δεδομένων CPU [και RAM.]</a:t>
            </a:r>
            <a:endParaRPr sz="1710"/>
          </a:p>
          <a:p>
            <a:pPr indent="-337185" lvl="0" marL="457200" rtl="0" algn="just">
              <a:lnSpc>
                <a:spcPct val="95000"/>
              </a:lnSpc>
              <a:spcBef>
                <a:spcPts val="0"/>
              </a:spcBef>
              <a:spcAft>
                <a:spcPts val="0"/>
              </a:spcAft>
              <a:buSzPts val="1710"/>
              <a:buFont typeface="Calibri"/>
              <a:buChar char="❏"/>
            </a:pPr>
            <a:r>
              <a:rPr lang="el-GR" sz="1710"/>
              <a:t>Ανάπτυξη και εκπαίδευση μοντέλων πρόβλεψης χρονοσειρών, όπως το LSTM, GRU και Transformers.</a:t>
            </a:r>
            <a:endParaRPr sz="1710"/>
          </a:p>
          <a:p>
            <a:pPr indent="-337185" lvl="0" marL="457200" rtl="0" algn="l">
              <a:lnSpc>
                <a:spcPct val="115000"/>
              </a:lnSpc>
              <a:spcBef>
                <a:spcPts val="0"/>
              </a:spcBef>
              <a:spcAft>
                <a:spcPts val="0"/>
              </a:spcAft>
              <a:buSzPts val="1710"/>
              <a:buFont typeface="Calibri"/>
              <a:buChar char="❏"/>
            </a:pPr>
            <a:r>
              <a:rPr lang="el-GR" sz="1710"/>
              <a:t>Πρόβλεψη χρήσης πόρων για: 1) short-term horizon (5 timesteps) και 2) long-term horizon (10 timesteps).</a:t>
            </a:r>
            <a:endParaRPr sz="1710"/>
          </a:p>
          <a:p>
            <a:pPr indent="-337185" lvl="0" marL="457200" rtl="0" algn="l">
              <a:lnSpc>
                <a:spcPct val="115000"/>
              </a:lnSpc>
              <a:spcBef>
                <a:spcPts val="0"/>
              </a:spcBef>
              <a:spcAft>
                <a:spcPts val="0"/>
              </a:spcAft>
              <a:buSzPts val="1710"/>
              <a:buFont typeface="Calibri"/>
              <a:buChar char="❏"/>
            </a:pPr>
            <a:r>
              <a:rPr lang="el-GR" sz="1710"/>
              <a:t>Αξιολόγηση των μοντέλων με τις μετρικές MSE, MAE και MAPE.</a:t>
            </a:r>
            <a:endParaRPr sz="1710"/>
          </a:p>
          <a:p>
            <a:pPr indent="-337185" lvl="0" marL="457200" rtl="0" algn="just">
              <a:lnSpc>
                <a:spcPct val="95000"/>
              </a:lnSpc>
              <a:spcBef>
                <a:spcPts val="0"/>
              </a:spcBef>
              <a:spcAft>
                <a:spcPts val="0"/>
              </a:spcAft>
              <a:buSzPts val="1710"/>
              <a:buFont typeface="Calibri"/>
              <a:buChar char="❏"/>
            </a:pPr>
            <a:r>
              <a:rPr lang="el-GR" sz="1710"/>
              <a:t>Σύγκριση τουλάχιστον 2 μοντέλων ως προς την ακρίβεια πρόβλεψης, το inference time και την υπολογιστική πολυπλοκότητα.</a:t>
            </a:r>
            <a:endParaRPr sz="1710"/>
          </a:p>
          <a:p>
            <a:pPr indent="-337185" lvl="0" marL="457200" rtl="0" algn="just">
              <a:lnSpc>
                <a:spcPct val="95000"/>
              </a:lnSpc>
              <a:spcBef>
                <a:spcPts val="0"/>
              </a:spcBef>
              <a:spcAft>
                <a:spcPts val="0"/>
              </a:spcAft>
              <a:buSzPts val="1710"/>
              <a:buFont typeface="Calibri"/>
              <a:buChar char="❏"/>
            </a:pPr>
            <a:r>
              <a:rPr lang="el-GR" sz="1710"/>
              <a:t>Εξαγωγή συμπερασμάτων σχετικά με την καταλληλότητα των μοντέλων σε πραγματικά συστήματα διαχείρισης πόρων.</a:t>
            </a:r>
            <a:endParaRPr sz="1710"/>
          </a:p>
          <a:p>
            <a:pPr indent="0" lvl="0" marL="0" rtl="0" algn="just">
              <a:lnSpc>
                <a:spcPct val="95000"/>
              </a:lnSpc>
              <a:spcBef>
                <a:spcPts val="0"/>
              </a:spcBef>
              <a:spcAft>
                <a:spcPts val="0"/>
              </a:spcAft>
              <a:buNone/>
            </a:pPr>
            <a:r>
              <a:t/>
            </a:r>
            <a:endParaRPr sz="1710"/>
          </a:p>
          <a:p>
            <a:pPr indent="0" lvl="0" marL="0" rtl="0" algn="just">
              <a:lnSpc>
                <a:spcPct val="95000"/>
              </a:lnSpc>
              <a:spcBef>
                <a:spcPts val="0"/>
              </a:spcBef>
              <a:spcAft>
                <a:spcPts val="0"/>
              </a:spcAft>
              <a:buNone/>
            </a:pPr>
            <a:r>
              <a:t/>
            </a:r>
            <a:endParaRPr sz="171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24125" y="585225"/>
            <a:ext cx="101586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Εργαλεία που χρησιμοποιήθηκαν</a:t>
            </a:r>
            <a:endParaRPr/>
          </a:p>
        </p:txBody>
      </p:sp>
      <p:pic>
        <p:nvPicPr>
          <p:cNvPr id="116" name="Google Shape;116;p3"/>
          <p:cNvPicPr preferRelativeResize="0"/>
          <p:nvPr>
            <p:ph idx="1" type="body"/>
          </p:nvPr>
        </p:nvPicPr>
        <p:blipFill rotWithShape="1">
          <a:blip r:embed="rId3">
            <a:alphaModFix/>
          </a:blip>
          <a:srcRect b="0" l="0" r="0" t="0"/>
          <a:stretch/>
        </p:blipFill>
        <p:spPr>
          <a:xfrm>
            <a:off x="4509725" y="2764553"/>
            <a:ext cx="2898600" cy="2382900"/>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1024125" y="2764550"/>
            <a:ext cx="2244639" cy="2281500"/>
          </a:xfrm>
          <a:prstGeom prst="rect">
            <a:avLst/>
          </a:prstGeom>
          <a:noFill/>
          <a:ln>
            <a:noFill/>
          </a:ln>
        </p:spPr>
      </p:pic>
      <p:pic>
        <p:nvPicPr>
          <p:cNvPr id="118" name="Google Shape;118;p3"/>
          <p:cNvPicPr preferRelativeResize="0"/>
          <p:nvPr/>
        </p:nvPicPr>
        <p:blipFill rotWithShape="1">
          <a:blip r:embed="rId5">
            <a:alphaModFix/>
          </a:blip>
          <a:srcRect b="0" l="0" r="0" t="0"/>
          <a:stretch/>
        </p:blipFill>
        <p:spPr>
          <a:xfrm>
            <a:off x="8429907" y="2948739"/>
            <a:ext cx="3322580" cy="1913099"/>
          </a:xfrm>
          <a:prstGeom prst="rect">
            <a:avLst/>
          </a:prstGeom>
          <a:noFill/>
          <a:ln>
            <a:noFill/>
          </a:ln>
        </p:spPr>
      </p:pic>
      <p:sp>
        <p:nvSpPr>
          <p:cNvPr id="119" name="Google Shape;119;p3"/>
          <p:cNvSpPr txBox="1"/>
          <p:nvPr/>
        </p:nvSpPr>
        <p:spPr>
          <a:xfrm>
            <a:off x="14146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Github</a:t>
            </a:r>
            <a:endParaRPr b="1" sz="2200">
              <a:solidFill>
                <a:schemeClr val="dk1"/>
              </a:solidFill>
              <a:latin typeface="Calibri"/>
              <a:ea typeface="Calibri"/>
              <a:cs typeface="Calibri"/>
              <a:sym typeface="Calibri"/>
            </a:endParaRPr>
          </a:p>
        </p:txBody>
      </p:sp>
      <p:sp>
        <p:nvSpPr>
          <p:cNvPr id="120" name="Google Shape;120;p3"/>
          <p:cNvSpPr txBox="1"/>
          <p:nvPr/>
        </p:nvSpPr>
        <p:spPr>
          <a:xfrm>
            <a:off x="5189700" y="5147375"/>
            <a:ext cx="18126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F1C232"/>
                </a:solidFill>
                <a:latin typeface="Calibri"/>
                <a:ea typeface="Calibri"/>
                <a:cs typeface="Calibri"/>
                <a:sym typeface="Calibri"/>
              </a:rPr>
              <a:t>Google colab</a:t>
            </a:r>
            <a:endParaRPr b="1" sz="2200">
              <a:solidFill>
                <a:srgbClr val="F1C232"/>
              </a:solidFill>
              <a:latin typeface="Calibri"/>
              <a:ea typeface="Calibri"/>
              <a:cs typeface="Calibri"/>
              <a:sym typeface="Calibri"/>
            </a:endParaRPr>
          </a:p>
        </p:txBody>
      </p:sp>
      <p:sp>
        <p:nvSpPr>
          <p:cNvPr id="121" name="Google Shape;121;p3"/>
          <p:cNvSpPr txBox="1"/>
          <p:nvPr/>
        </p:nvSpPr>
        <p:spPr>
          <a:xfrm>
            <a:off x="9471750" y="5189975"/>
            <a:ext cx="1305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3C78D8"/>
                </a:solidFill>
                <a:latin typeface="Calibri"/>
                <a:ea typeface="Calibri"/>
                <a:cs typeface="Calibri"/>
                <a:sym typeface="Calibri"/>
              </a:rPr>
              <a:t>Discord</a:t>
            </a:r>
            <a:endParaRPr b="1" sz="2200">
              <a:solidFill>
                <a:srgbClr val="3C78D8"/>
              </a:solidFill>
              <a:latin typeface="Calibri"/>
              <a:ea typeface="Calibri"/>
              <a:cs typeface="Calibri"/>
              <a:sym typeface="Calibri"/>
            </a:endParaRPr>
          </a:p>
        </p:txBody>
      </p:sp>
      <p:pic>
        <p:nvPicPr>
          <p:cNvPr id="122" name="Google Shape;122;p3"/>
          <p:cNvPicPr preferRelativeResize="0"/>
          <p:nvPr/>
        </p:nvPicPr>
        <p:blipFill>
          <a:blip r:embed="rId6">
            <a:alphaModFix/>
          </a:blip>
          <a:stretch>
            <a:fillRect/>
          </a:stretch>
        </p:blipFill>
        <p:spPr>
          <a:xfrm>
            <a:off x="805388" y="5725675"/>
            <a:ext cx="2524125" cy="247650"/>
          </a:xfrm>
          <a:prstGeom prst="rect">
            <a:avLst/>
          </a:prstGeom>
          <a:noFill/>
          <a:ln>
            <a:noFill/>
          </a:ln>
        </p:spPr>
      </p:pic>
      <p:pic>
        <p:nvPicPr>
          <p:cNvPr id="123" name="Google Shape;123;p3"/>
          <p:cNvPicPr preferRelativeResize="0"/>
          <p:nvPr/>
        </p:nvPicPr>
        <p:blipFill>
          <a:blip r:embed="rId7">
            <a:alphaModFix/>
          </a:blip>
          <a:stretch>
            <a:fillRect/>
          </a:stretch>
        </p:blipFill>
        <p:spPr>
          <a:xfrm>
            <a:off x="4677913" y="5746250"/>
            <a:ext cx="2562225" cy="266700"/>
          </a:xfrm>
          <a:prstGeom prst="rect">
            <a:avLst/>
          </a:prstGeom>
          <a:noFill/>
          <a:ln>
            <a:noFill/>
          </a:ln>
        </p:spPr>
      </p:pic>
      <p:pic>
        <p:nvPicPr>
          <p:cNvPr id="124" name="Google Shape;124;p3"/>
          <p:cNvPicPr preferRelativeResize="0"/>
          <p:nvPr/>
        </p:nvPicPr>
        <p:blipFill>
          <a:blip r:embed="rId8">
            <a:alphaModFix/>
          </a:blip>
          <a:stretch>
            <a:fillRect/>
          </a:stretch>
        </p:blipFill>
        <p:spPr>
          <a:xfrm>
            <a:off x="8862463" y="5755775"/>
            <a:ext cx="2457450" cy="247650"/>
          </a:xfrm>
          <a:prstGeom prst="rect">
            <a:avLst/>
          </a:prstGeom>
          <a:noFill/>
          <a:ln>
            <a:noFill/>
          </a:ln>
        </p:spPr>
      </p:pic>
      <p:pic>
        <p:nvPicPr>
          <p:cNvPr id="125" name="Google Shape;125;p3"/>
          <p:cNvPicPr preferRelativeResize="0"/>
          <p:nvPr/>
        </p:nvPicPr>
        <p:blipFill>
          <a:blip r:embed="rId9">
            <a:alphaModFix/>
          </a:blip>
          <a:stretch>
            <a:fillRect/>
          </a:stretch>
        </p:blipFill>
        <p:spPr>
          <a:xfrm>
            <a:off x="1024125" y="1738225"/>
            <a:ext cx="8764274" cy="427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600"/>
              <a:t> Βιβλιοθήκες που χρησιμοποιήθηκαν</a:t>
            </a:r>
            <a:endParaRPr sz="4600"/>
          </a:p>
        </p:txBody>
      </p:sp>
      <p:sp>
        <p:nvSpPr>
          <p:cNvPr id="131" name="Google Shape;131;p4"/>
          <p:cNvSpPr txBox="1"/>
          <p:nvPr>
            <p:ph idx="1" type="body"/>
          </p:nvPr>
        </p:nvSpPr>
        <p:spPr>
          <a:xfrm>
            <a:off x="1024128" y="2084825"/>
            <a:ext cx="9720000" cy="4023300"/>
          </a:xfrm>
          <a:prstGeom prst="rect">
            <a:avLst/>
          </a:prstGeom>
          <a:noFill/>
          <a:ln>
            <a:noFill/>
          </a:ln>
        </p:spPr>
        <p:txBody>
          <a:bodyPr anchorCtr="0" anchor="t" bIns="45700" lIns="45700" spcFirstLastPara="1" rIns="45700" wrap="square" tIns="45700">
            <a:normAutofit fontScale="25000" lnSpcReduction="20000"/>
          </a:bodyPr>
          <a:lstStyle/>
          <a:p>
            <a:pPr indent="-92608" lvl="0" marL="91440" rtl="0" algn="l">
              <a:spcBef>
                <a:spcPts val="1400"/>
              </a:spcBef>
              <a:spcAft>
                <a:spcPts val="0"/>
              </a:spcAft>
              <a:buSzPct val="100000"/>
              <a:buFont typeface="Noto Sans Symbols"/>
              <a:buChar char="▪"/>
            </a:pPr>
            <a:r>
              <a:rPr b="1" lang="el-GR" sz="5834"/>
              <a:t>NumPy</a:t>
            </a:r>
            <a:r>
              <a:rPr lang="el-GR" sz="5834"/>
              <a:t> για τις αριθμητικές πράξεις και την επεξεργασία των δεδομένων.</a:t>
            </a:r>
            <a:endParaRPr sz="5834"/>
          </a:p>
          <a:p>
            <a:pPr indent="-92608" lvl="0" marL="91440" rtl="0" algn="l">
              <a:spcBef>
                <a:spcPts val="1400"/>
              </a:spcBef>
              <a:spcAft>
                <a:spcPts val="0"/>
              </a:spcAft>
              <a:buSzPct val="100000"/>
              <a:buFont typeface="Noto Sans Symbols"/>
              <a:buChar char="▪"/>
            </a:pPr>
            <a:r>
              <a:rPr b="1" lang="el-GR" sz="5834"/>
              <a:t>Pandas</a:t>
            </a:r>
            <a:r>
              <a:rPr lang="el-GR" sz="5834"/>
              <a:t> για την διαχείριση και ανάλυση  των δεδομένων χρονοσειρών.</a:t>
            </a:r>
            <a:endParaRPr sz="5834"/>
          </a:p>
          <a:p>
            <a:pPr indent="-92608" lvl="0" marL="91440" rtl="0" algn="l">
              <a:spcBef>
                <a:spcPts val="1400"/>
              </a:spcBef>
              <a:spcAft>
                <a:spcPts val="0"/>
              </a:spcAft>
              <a:buSzPct val="100000"/>
              <a:buFont typeface="Noto Sans Symbols"/>
              <a:buChar char="▪"/>
            </a:pPr>
            <a:r>
              <a:rPr b="1" lang="el-GR" sz="5834"/>
              <a:t>Matplotlib</a:t>
            </a:r>
            <a:r>
              <a:rPr lang="el-GR" sz="5834"/>
              <a:t> για την οπτικοποίηση των δεδομένων και την δημιουργία των γραφημάτων.</a:t>
            </a:r>
            <a:endParaRPr sz="5834"/>
          </a:p>
          <a:p>
            <a:pPr indent="-92608" lvl="0" marL="91440" rtl="0" algn="l">
              <a:spcBef>
                <a:spcPts val="1400"/>
              </a:spcBef>
              <a:spcAft>
                <a:spcPts val="0"/>
              </a:spcAft>
              <a:buSzPct val="100000"/>
              <a:buFont typeface="Noto Sans Symbols"/>
              <a:buChar char="▪"/>
            </a:pPr>
            <a:r>
              <a:rPr b="1" lang="el-GR" sz="5834"/>
              <a:t>MinMaxScale</a:t>
            </a:r>
            <a:r>
              <a:rPr lang="el-GR" sz="5834"/>
              <a:t>r για την κανονικοποίηση (normalization) των δεδομένων.</a:t>
            </a:r>
            <a:endParaRPr sz="5834"/>
          </a:p>
          <a:p>
            <a:pPr indent="-92608" lvl="0" marL="91440" rtl="0" algn="l">
              <a:spcBef>
                <a:spcPts val="1400"/>
              </a:spcBef>
              <a:spcAft>
                <a:spcPts val="0"/>
              </a:spcAft>
              <a:buSzPct val="100000"/>
              <a:buFont typeface="Noto Sans Symbols"/>
              <a:buChar char="▪"/>
            </a:pPr>
            <a:r>
              <a:rPr b="1" lang="el-GR" sz="5834"/>
              <a:t>Metrics </a:t>
            </a:r>
            <a:r>
              <a:rPr lang="el-GR" sz="5834"/>
              <a:t>όπως </a:t>
            </a:r>
            <a:r>
              <a:rPr b="1" lang="el-GR" sz="5834"/>
              <a:t>MSE</a:t>
            </a:r>
            <a:r>
              <a:rPr lang="el-GR" sz="5834"/>
              <a:t> και </a:t>
            </a:r>
            <a:r>
              <a:rPr b="1" lang="el-GR" sz="5834"/>
              <a:t>MAE </a:t>
            </a:r>
            <a:r>
              <a:rPr lang="el-GR" sz="5834"/>
              <a:t>για την αξιολόγηση της απόδοσης των μοντέλων.</a:t>
            </a:r>
            <a:endParaRPr sz="5834"/>
          </a:p>
          <a:p>
            <a:pPr indent="-92608" lvl="0" marL="91440" rtl="0" algn="l">
              <a:spcBef>
                <a:spcPts val="1400"/>
              </a:spcBef>
              <a:spcAft>
                <a:spcPts val="0"/>
              </a:spcAft>
              <a:buSzPct val="100000"/>
              <a:buFont typeface="Noto Sans Symbols"/>
              <a:buChar char="▪"/>
            </a:pPr>
            <a:r>
              <a:rPr b="1" lang="el-GR" sz="5834"/>
              <a:t>TensorFlow</a:t>
            </a:r>
            <a:r>
              <a:rPr lang="el-GR" sz="5834"/>
              <a:t> για την ανάπτυξη και την εκπαίδευση των μοντέλων  βαθιάς μάθησης.</a:t>
            </a:r>
            <a:endParaRPr sz="5834"/>
          </a:p>
          <a:p>
            <a:pPr indent="-92608" lvl="0" marL="91440" rtl="0" algn="l">
              <a:spcBef>
                <a:spcPts val="1400"/>
              </a:spcBef>
              <a:spcAft>
                <a:spcPts val="0"/>
              </a:spcAft>
              <a:buSzPct val="100000"/>
              <a:buFont typeface="Noto Sans Symbols"/>
              <a:buChar char="▪"/>
            </a:pPr>
            <a:r>
              <a:rPr b="1" lang="el-GR" sz="5834"/>
              <a:t>Sequential model</a:t>
            </a:r>
            <a:r>
              <a:rPr lang="el-GR" sz="5834"/>
              <a:t> για τη δημιουργία της αρχιτεκτονικής των νευρωνικών δικτύων.</a:t>
            </a:r>
            <a:endParaRPr sz="5834"/>
          </a:p>
          <a:p>
            <a:pPr indent="-92608" lvl="0" marL="91440" rtl="0" algn="l">
              <a:spcBef>
                <a:spcPts val="1400"/>
              </a:spcBef>
              <a:spcAft>
                <a:spcPts val="0"/>
              </a:spcAft>
              <a:buSzPct val="100000"/>
              <a:buFont typeface="Noto Sans Symbols"/>
              <a:buChar char="▪"/>
            </a:pPr>
            <a:r>
              <a:rPr b="1" lang="el-GR" sz="5834"/>
              <a:t>GRU</a:t>
            </a:r>
            <a:r>
              <a:rPr lang="el-GR" sz="5834"/>
              <a:t> και </a:t>
            </a:r>
            <a:r>
              <a:rPr b="1" lang="el-GR" sz="5834"/>
              <a:t>Dense layers</a:t>
            </a:r>
            <a:r>
              <a:rPr lang="el-GR" sz="5834"/>
              <a:t> για πρόβλεψη των χρονοσειρών και την παραγωγή των τελικών προβλέψεων.</a:t>
            </a:r>
            <a:endParaRPr sz="5834"/>
          </a:p>
          <a:p>
            <a:pPr indent="-92608" lvl="0" marL="91440" rtl="0" algn="l">
              <a:spcBef>
                <a:spcPts val="1400"/>
              </a:spcBef>
              <a:spcAft>
                <a:spcPts val="0"/>
              </a:spcAft>
              <a:buSzPct val="100000"/>
              <a:buFont typeface="Noto Sans Symbols"/>
              <a:buChar char="▪"/>
            </a:pPr>
            <a:r>
              <a:rPr b="1" lang="el-GR" sz="5834"/>
              <a:t>Dropout layer</a:t>
            </a:r>
            <a:r>
              <a:rPr lang="el-GR" sz="5834"/>
              <a:t> για την μείωση του overfitting κατά την εκπαίδευση.</a:t>
            </a:r>
            <a:endParaRPr sz="5834"/>
          </a:p>
          <a:p>
            <a:pPr indent="-92608" lvl="0" marL="91440" rtl="0" algn="l">
              <a:spcBef>
                <a:spcPts val="1400"/>
              </a:spcBef>
              <a:spcAft>
                <a:spcPts val="0"/>
              </a:spcAft>
              <a:buSzPct val="100000"/>
              <a:buFont typeface="Noto Sans Symbols"/>
              <a:buChar char="▪"/>
            </a:pPr>
            <a:r>
              <a:rPr b="1" lang="el-GR" sz="5834"/>
              <a:t>EarlyStopping callback </a:t>
            </a:r>
            <a:r>
              <a:rPr lang="el-GR" sz="5834"/>
              <a:t>για  την αποφυγή της περιττής εκπαίδευσης και την βελτίωση της γενίκευσης του μοντέλου.</a:t>
            </a:r>
            <a:endParaRPr sz="5834"/>
          </a:p>
          <a:p>
            <a:pPr indent="-92608" lvl="0" marL="91440" rtl="0" algn="l">
              <a:spcBef>
                <a:spcPts val="1400"/>
              </a:spcBef>
              <a:spcAft>
                <a:spcPts val="0"/>
              </a:spcAft>
              <a:buSzPct val="100000"/>
              <a:buFont typeface="Noto Sans Symbols"/>
              <a:buChar char="▪"/>
            </a:pPr>
            <a:r>
              <a:rPr lang="el-GR" sz="5834"/>
              <a:t> </a:t>
            </a:r>
            <a:r>
              <a:rPr b="1" lang="el-GR" sz="5834"/>
              <a:t>DataLoader</a:t>
            </a:r>
            <a:r>
              <a:rPr lang="el-GR" sz="5834"/>
              <a:t> για την αποδοτική διαχείριση  των δεδομένων κατά την εκπαίδευση.</a:t>
            </a:r>
            <a:endParaRPr sz="5834"/>
          </a:p>
          <a:p>
            <a:pPr indent="-92608" lvl="0" marL="91440" rtl="0" algn="l">
              <a:spcBef>
                <a:spcPts val="1400"/>
              </a:spcBef>
              <a:spcAft>
                <a:spcPts val="0"/>
              </a:spcAft>
              <a:buSzPct val="100000"/>
              <a:buFont typeface="Noto Sans Symbols"/>
              <a:buChar char="▪"/>
            </a:pPr>
            <a:r>
              <a:rPr b="1" lang="el-GR" sz="5834"/>
              <a:t>Path library</a:t>
            </a:r>
            <a:r>
              <a:rPr lang="el-GR" sz="5834"/>
              <a:t> για την διαχείριση  των αρχείων και των φακέλων του project.</a:t>
            </a:r>
            <a:endParaRPr sz="5834"/>
          </a:p>
          <a:p>
            <a:pPr indent="-28575" lvl="0" marL="91440" rtl="0" algn="l">
              <a:lnSpc>
                <a:spcPct val="90000"/>
              </a:lnSpc>
              <a:spcBef>
                <a:spcPts val="1400"/>
              </a:spcBef>
              <a:spcAft>
                <a:spcPts val="0"/>
              </a:spcAft>
              <a:buSzPct val="81818"/>
              <a:buChar char="▪"/>
            </a:pPr>
            <a:r>
              <a:t/>
            </a:r>
            <a:endParaRPr b="1"/>
          </a:p>
          <a:p>
            <a:pPr indent="0" lvl="0" marL="91440" rtl="0" algn="l">
              <a:lnSpc>
                <a:spcPct val="90000"/>
              </a:lnSpc>
              <a:spcBef>
                <a:spcPts val="1400"/>
              </a:spcBef>
              <a:spcAft>
                <a:spcPts val="0"/>
              </a:spcAft>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5"/>
          <p:cNvPicPr preferRelativeResize="0"/>
          <p:nvPr/>
        </p:nvPicPr>
        <p:blipFill rotWithShape="1">
          <a:blip r:embed="rId3">
            <a:alphaModFix/>
          </a:blip>
          <a:srcRect b="0" l="0" r="0" t="0"/>
          <a:stretch/>
        </p:blipFill>
        <p:spPr>
          <a:xfrm>
            <a:off x="714840" y="1819835"/>
            <a:ext cx="10935824" cy="4661647"/>
          </a:xfrm>
          <a:prstGeom prst="rect">
            <a:avLst/>
          </a:prstGeom>
          <a:noFill/>
          <a:ln>
            <a:noFill/>
          </a:ln>
          <a:effectLst>
            <a:outerShdw blurRad="50800" sx="5000" rotWithShape="0" algn="ctr" dir="5400000" dist="50800" sy="5000">
              <a:srgbClr val="000000">
                <a:alpha val="43137"/>
              </a:srgbClr>
            </a:outerShdw>
          </a:effectLst>
        </p:spPr>
      </p:pic>
      <p:sp>
        <p:nvSpPr>
          <p:cNvPr id="137" name="Google Shape;137;p5"/>
          <p:cNvSpPr txBox="1"/>
          <p:nvPr>
            <p:ph type="title"/>
          </p:nvPr>
        </p:nvSpPr>
        <p:spPr>
          <a:xfrm>
            <a:off x="1024125" y="585222"/>
            <a:ext cx="9575700" cy="10542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Το alibaba cluster set</a:t>
            </a:r>
            <a:endParaRPr/>
          </a:p>
        </p:txBody>
      </p:sp>
      <p:pic>
        <p:nvPicPr>
          <p:cNvPr id="138" name="Google Shape;138;p5"/>
          <p:cNvPicPr preferRelativeResize="0"/>
          <p:nvPr>
            <p:ph idx="1" type="body"/>
          </p:nvPr>
        </p:nvPicPr>
        <p:blipFill rotWithShape="1">
          <a:blip r:embed="rId4">
            <a:alphaModFix/>
          </a:blip>
          <a:srcRect b="0" l="0" r="0" t="0"/>
          <a:stretch/>
        </p:blipFill>
        <p:spPr>
          <a:xfrm>
            <a:off x="5273232" y="4365812"/>
            <a:ext cx="6203928" cy="1767033"/>
          </a:xfrm>
          <a:prstGeom prst="rect">
            <a:avLst/>
          </a:prstGeom>
          <a:noFill/>
          <a:ln cap="flat" cmpd="sng" w="38100">
            <a:solidFill>
              <a:srgbClr val="C00000"/>
            </a:solidFill>
            <a:prstDash val="solid"/>
            <a:round/>
            <a:headEnd len="sm" w="sm" type="none"/>
            <a:tailEnd len="sm" w="sm" type="none"/>
          </a:ln>
        </p:spPr>
      </p:pic>
      <p:pic>
        <p:nvPicPr>
          <p:cNvPr id="139" name="Google Shape;139;p5"/>
          <p:cNvPicPr preferRelativeResize="0"/>
          <p:nvPr/>
        </p:nvPicPr>
        <p:blipFill rotWithShape="1">
          <a:blip r:embed="rId5">
            <a:alphaModFix/>
          </a:blip>
          <a:srcRect b="0" l="0" r="0" t="0"/>
          <a:stretch/>
        </p:blipFill>
        <p:spPr>
          <a:xfrm>
            <a:off x="1024128" y="2211909"/>
            <a:ext cx="3782458" cy="1382938"/>
          </a:xfrm>
          <a:prstGeom prst="rect">
            <a:avLst/>
          </a:prstGeom>
          <a:noFill/>
          <a:ln cap="flat" cmpd="sng" w="47625">
            <a:solidFill>
              <a:srgbClr val="C0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προεπεξεργασία των δεδομένων</a:t>
            </a:r>
            <a:endParaRPr/>
          </a:p>
        </p:txBody>
      </p:sp>
      <p:sp>
        <p:nvSpPr>
          <p:cNvPr id="145" name="Google Shape;145;p6"/>
          <p:cNvSpPr txBox="1"/>
          <p:nvPr>
            <p:ph idx="1" type="body"/>
          </p:nvPr>
        </p:nvSpPr>
        <p:spPr>
          <a:xfrm>
            <a:off x="1024125" y="2286000"/>
            <a:ext cx="10275600" cy="4089600"/>
          </a:xfrm>
          <a:prstGeom prst="rect">
            <a:avLst/>
          </a:prstGeom>
          <a:noFill/>
          <a:ln>
            <a:noFill/>
          </a:ln>
        </p:spPr>
        <p:txBody>
          <a:bodyPr anchorCtr="0" anchor="t" bIns="45700" lIns="45700" spcFirstLastPara="1" rIns="45700" wrap="square" tIns="45700">
            <a:normAutofit/>
          </a:bodyPr>
          <a:lstStyle/>
          <a:p>
            <a:pPr indent="-114300" lvl="0" marL="91440" rtl="0" algn="just">
              <a:lnSpc>
                <a:spcPct val="90000"/>
              </a:lnSpc>
              <a:spcBef>
                <a:spcPts val="1400"/>
              </a:spcBef>
              <a:spcAft>
                <a:spcPts val="0"/>
              </a:spcAft>
              <a:buSzPts val="1800"/>
              <a:buChar char="❏"/>
            </a:pPr>
            <a:r>
              <a:rPr lang="el-GR"/>
              <a:t> Αφαίρεση διπλότυπων εγγραφών με χρήση της συνάρτησης drop_duplicates() για βελτίωση της ποιότητας και αξιοπιστίας των δεδομένων.</a:t>
            </a:r>
            <a:endParaRPr/>
          </a:p>
          <a:p>
            <a:pPr indent="-114300" lvl="0" marL="91440" rtl="0" algn="just">
              <a:lnSpc>
                <a:spcPct val="90000"/>
              </a:lnSpc>
              <a:spcBef>
                <a:spcPts val="0"/>
              </a:spcBef>
              <a:spcAft>
                <a:spcPts val="0"/>
              </a:spcAft>
              <a:buSzPts val="1800"/>
              <a:buChar char="❏"/>
            </a:pPr>
            <a:r>
              <a:rPr lang="el-GR"/>
              <a:t>  Διαχείριση των  missing values μέσω ελέγχου ελλιπών τιμών και εφαρμογής γραμμικής παρεμβολής με interpolate(method='linear'). </a:t>
            </a:r>
            <a:endParaRPr/>
          </a:p>
          <a:p>
            <a:pPr indent="-114300" lvl="0" marL="91440" rtl="0" algn="just">
              <a:lnSpc>
                <a:spcPct val="90000"/>
              </a:lnSpc>
              <a:spcBef>
                <a:spcPts val="0"/>
              </a:spcBef>
              <a:spcAft>
                <a:spcPts val="0"/>
              </a:spcAft>
              <a:buSzPts val="1800"/>
              <a:buChar char="❏"/>
            </a:pPr>
            <a:r>
              <a:rPr lang="el-GR"/>
              <a:t> Αφαίρεση ακραίων τιμών (outliers) με ορισμό συνάρτησης remove_outliers(df, cols) ώστε να μειωθεί η επίδραση μη λογικών τιμών στο μοντέλο. </a:t>
            </a:r>
            <a:endParaRPr/>
          </a:p>
          <a:p>
            <a:pPr indent="-114300" lvl="0" marL="91440" rtl="0" algn="just">
              <a:lnSpc>
                <a:spcPct val="90000"/>
              </a:lnSpc>
              <a:spcBef>
                <a:spcPts val="0"/>
              </a:spcBef>
              <a:spcAft>
                <a:spcPts val="0"/>
              </a:spcAft>
              <a:buSzPts val="1800"/>
              <a:buChar char="❏"/>
            </a:pPr>
            <a:r>
              <a:rPr lang="el-GR"/>
              <a:t> Κανονικοποίηση δεδομένων στο διάστημα [0,1] με χρήση του MinMaxScaler, για καλύτερη και σταθερότερη εκπαίδευση του μοντέλου. </a:t>
            </a:r>
            <a:endParaRPr/>
          </a:p>
          <a:p>
            <a:pPr indent="-114300" lvl="0" marL="91440" rtl="0" algn="just">
              <a:lnSpc>
                <a:spcPct val="90000"/>
              </a:lnSpc>
              <a:spcBef>
                <a:spcPts val="0"/>
              </a:spcBef>
              <a:spcAft>
                <a:spcPts val="0"/>
              </a:spcAft>
              <a:buSzPts val="1800"/>
              <a:buChar char="❏"/>
            </a:pPr>
            <a:r>
              <a:rPr lang="el-GR"/>
              <a:t> Χρήση DataLoader για φόρτωση των δεδομένων σε batches</a:t>
            </a:r>
            <a:endParaRPr/>
          </a:p>
          <a:p>
            <a:pPr indent="0" lvl="0" marL="0" rtl="0" algn="l">
              <a:lnSpc>
                <a:spcPct val="90000"/>
              </a:lnSpc>
              <a:spcBef>
                <a:spcPts val="1400"/>
              </a:spcBef>
              <a:spcAft>
                <a:spcPts val="0"/>
              </a:spcAft>
              <a:buNone/>
            </a:pPr>
            <a:r>
              <a:t/>
            </a:r>
            <a:endParaRPr/>
          </a:p>
          <a:p>
            <a:pPr indent="0" lvl="0" marL="91440" rtl="0" algn="l">
              <a:lnSpc>
                <a:spcPct val="90000"/>
              </a:lnSpc>
              <a:spcBef>
                <a:spcPts val="14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Δημιουργία συγκεντρωτικής σειράς</a:t>
            </a:r>
            <a:endParaRPr/>
          </a:p>
        </p:txBody>
      </p:sp>
      <p:sp>
        <p:nvSpPr>
          <p:cNvPr id="151" name="Google Shape;151;p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just">
              <a:lnSpc>
                <a:spcPct val="90000"/>
              </a:lnSpc>
              <a:spcBef>
                <a:spcPts val="0"/>
              </a:spcBef>
              <a:spcAft>
                <a:spcPts val="0"/>
              </a:spcAft>
              <a:buSzPts val="2200"/>
              <a:buFont typeface="Noto Sans Symbols"/>
              <a:buChar char="▪"/>
            </a:pPr>
            <a:r>
              <a:rPr lang="el-GR"/>
              <a:t>Το συγκεκριμένο dataset περιείχε 10.283 διαφορετικά machines.Οι επιμέρους χρονοσειρές ανά machine_id ήταν πολύ μικρές για την αξιόπιστη εκπαίδευση των μοντέλων βαθιάς μηχανικής μάθησης. Η πρόβλεψη δεν πραγματοποιήθηκε σε επίπεδο μεμονωμένου node, αλλά στη μέση χρήση πόρων του cluster ανά χρονική στιγμή.</a:t>
            </a:r>
            <a:endParaRPr/>
          </a:p>
          <a:p>
            <a:pPr indent="-139700" lvl="0" marL="91440" rtl="0" algn="l">
              <a:lnSpc>
                <a:spcPct val="90000"/>
              </a:lnSpc>
              <a:spcBef>
                <a:spcPts val="1400"/>
              </a:spcBef>
              <a:spcAft>
                <a:spcPts val="0"/>
              </a:spcAft>
              <a:buSzPts val="2200"/>
              <a:buFont typeface="Noto Sans Symbols"/>
              <a:buChar char="▪"/>
            </a:pPr>
            <a:r>
              <a:rPr lang="el-GR"/>
              <a:t> Για τον λόγο αυτό δημιουργήθηκε μια aggregated series:</a:t>
            </a:r>
            <a:endParaRPr/>
          </a:p>
          <a:p>
            <a:pPr indent="0" lvl="0" marL="0" rtl="0" algn="l">
              <a:lnSpc>
                <a:spcPct val="90000"/>
              </a:lnSpc>
              <a:spcBef>
                <a:spcPts val="1400"/>
              </a:spcBef>
              <a:spcAft>
                <a:spcPts val="0"/>
              </a:spcAft>
              <a:buSzPts val="2200"/>
              <a:buNone/>
            </a:pPr>
            <a:r>
              <a:rPr lang="el-GR"/>
              <a:t>  -ομαδοποίηση ανά timestamp </a:t>
            </a:r>
            <a:endParaRPr/>
          </a:p>
          <a:p>
            <a:pPr indent="0" lvl="0" marL="0" rtl="0" algn="l">
              <a:lnSpc>
                <a:spcPct val="90000"/>
              </a:lnSpc>
              <a:spcBef>
                <a:spcPts val="1400"/>
              </a:spcBef>
              <a:spcAft>
                <a:spcPts val="0"/>
              </a:spcAft>
              <a:buSzPts val="2200"/>
              <a:buNone/>
            </a:pPr>
            <a:r>
              <a:rPr lang="el-GR"/>
              <a:t> -υπολογισμός της μέσης τιμής cpu_usage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ddb62b7156_0_0"/>
          <p:cNvSpPr/>
          <p:nvPr/>
        </p:nvSpPr>
        <p:spPr>
          <a:xfrm>
            <a:off x="50675" y="2225250"/>
            <a:ext cx="12022800" cy="3218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158" name="Google Shape;158;g3ddb62b7156_0_0"/>
          <p:cNvSpPr txBox="1"/>
          <p:nvPr>
            <p:ph type="title"/>
          </p:nvPr>
        </p:nvSpPr>
        <p:spPr>
          <a:xfrm>
            <a:off x="960225" y="706225"/>
            <a:ext cx="9409200" cy="10266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l-GR"/>
              <a:t>Μέτρηση χρονοσειράς για ένα node id</a:t>
            </a:r>
            <a:endParaRPr/>
          </a:p>
        </p:txBody>
      </p:sp>
      <p:sp>
        <p:nvSpPr>
          <p:cNvPr id="159" name="Google Shape;159;g3ddb62b7156_0_0"/>
          <p:cNvSpPr txBox="1"/>
          <p:nvPr>
            <p:ph idx="1" type="body"/>
          </p:nvPr>
        </p:nvSpPr>
        <p:spPr>
          <a:xfrm>
            <a:off x="1935400" y="1891300"/>
            <a:ext cx="8365800" cy="288900"/>
          </a:xfrm>
          <a:prstGeom prst="rect">
            <a:avLst/>
          </a:prstGeom>
        </p:spPr>
        <p:txBody>
          <a:bodyPr anchorCtr="0" anchor="t" bIns="45700" lIns="45700" spcFirstLastPara="1" rIns="45700" wrap="square" tIns="45700">
            <a:noAutofit/>
          </a:bodyPr>
          <a:lstStyle/>
          <a:p>
            <a:pPr indent="0" lvl="0" marL="0" rtl="0" algn="ctr">
              <a:lnSpc>
                <a:spcPct val="70000"/>
              </a:lnSpc>
              <a:spcBef>
                <a:spcPts val="1200"/>
              </a:spcBef>
              <a:spcAft>
                <a:spcPts val="0"/>
              </a:spcAft>
              <a:buSzPts val="275"/>
              <a:buNone/>
            </a:pPr>
            <a:r>
              <a:rPr lang="el-GR" sz="1750"/>
              <a:t>    Μας προτάθηκε στην ενδιάμεση παρουσίαση η μέτρηση χρονοσειράς ενός node id.</a:t>
            </a:r>
            <a:endParaRPr sz="1750"/>
          </a:p>
          <a:p>
            <a:pPr indent="0" lvl="0" marL="0" rtl="0" algn="l">
              <a:lnSpc>
                <a:spcPct val="70000"/>
              </a:lnSpc>
              <a:spcBef>
                <a:spcPts val="1200"/>
              </a:spcBef>
              <a:spcAft>
                <a:spcPts val="200"/>
              </a:spcAft>
              <a:buSzPts val="275"/>
              <a:buNone/>
            </a:pPr>
            <a:r>
              <a:t/>
            </a:r>
            <a:endParaRPr sz="750"/>
          </a:p>
        </p:txBody>
      </p:sp>
      <p:pic>
        <p:nvPicPr>
          <p:cNvPr id="160" name="Google Shape;160;g3ddb62b7156_0_0"/>
          <p:cNvPicPr preferRelativeResize="0"/>
          <p:nvPr/>
        </p:nvPicPr>
        <p:blipFill>
          <a:blip r:embed="rId3">
            <a:alphaModFix/>
          </a:blip>
          <a:stretch>
            <a:fillRect/>
          </a:stretch>
        </p:blipFill>
        <p:spPr>
          <a:xfrm>
            <a:off x="175700" y="2434025"/>
            <a:ext cx="5944212" cy="2741825"/>
          </a:xfrm>
          <a:prstGeom prst="rect">
            <a:avLst/>
          </a:prstGeom>
          <a:noFill/>
          <a:ln>
            <a:noFill/>
          </a:ln>
        </p:spPr>
      </p:pic>
      <p:pic>
        <p:nvPicPr>
          <p:cNvPr id="161" name="Google Shape;161;g3ddb62b7156_0_0"/>
          <p:cNvPicPr preferRelativeResize="0"/>
          <p:nvPr/>
        </p:nvPicPr>
        <p:blipFill>
          <a:blip r:embed="rId4">
            <a:alphaModFix/>
          </a:blip>
          <a:stretch>
            <a:fillRect/>
          </a:stretch>
        </p:blipFill>
        <p:spPr>
          <a:xfrm>
            <a:off x="6229325" y="2434013"/>
            <a:ext cx="5700476" cy="2741825"/>
          </a:xfrm>
          <a:prstGeom prst="rect">
            <a:avLst/>
          </a:prstGeom>
          <a:noFill/>
          <a:ln>
            <a:noFill/>
          </a:ln>
        </p:spPr>
      </p:pic>
      <p:sp>
        <p:nvSpPr>
          <p:cNvPr id="162" name="Google Shape;162;g3ddb62b7156_0_0"/>
          <p:cNvSpPr/>
          <p:nvPr/>
        </p:nvSpPr>
        <p:spPr>
          <a:xfrm>
            <a:off x="2535500"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1</a:t>
            </a:r>
            <a:endParaRPr b="1">
              <a:solidFill>
                <a:srgbClr val="D5A6BD"/>
              </a:solidFill>
              <a:latin typeface="Calibri"/>
              <a:ea typeface="Calibri"/>
              <a:cs typeface="Calibri"/>
              <a:sym typeface="Calibri"/>
            </a:endParaRPr>
          </a:p>
        </p:txBody>
      </p:sp>
      <p:sp>
        <p:nvSpPr>
          <p:cNvPr id="163" name="Google Shape;163;g3ddb62b7156_0_0"/>
          <p:cNvSpPr/>
          <p:nvPr/>
        </p:nvSpPr>
        <p:spPr>
          <a:xfrm>
            <a:off x="8594225" y="5205525"/>
            <a:ext cx="1224600" cy="429000"/>
          </a:xfrm>
          <a:prstGeom prst="rect">
            <a:avLst/>
          </a:prstGeom>
          <a:solidFill>
            <a:srgbClr val="674EA7"/>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l-GR">
                <a:solidFill>
                  <a:srgbClr val="D5A6BD"/>
                </a:solidFill>
                <a:latin typeface="Calibri"/>
                <a:ea typeface="Calibri"/>
                <a:cs typeface="Calibri"/>
                <a:sym typeface="Calibri"/>
              </a:rPr>
              <a:t>machine 2</a:t>
            </a:r>
            <a:endParaRPr b="1">
              <a:solidFill>
                <a:srgbClr val="D5A6BD"/>
              </a:solidFill>
              <a:latin typeface="Calibri"/>
              <a:ea typeface="Calibri"/>
              <a:cs typeface="Calibri"/>
              <a:sym typeface="Calibri"/>
            </a:endParaRPr>
          </a:p>
        </p:txBody>
      </p:sp>
      <p:graphicFrame>
        <p:nvGraphicFramePr>
          <p:cNvPr id="164" name="Google Shape;164;g3ddb62b7156_0_0"/>
          <p:cNvGraphicFramePr/>
          <p:nvPr/>
        </p:nvGraphicFramePr>
        <p:xfrm>
          <a:off x="343175" y="5429650"/>
          <a:ext cx="3000000" cy="3000000"/>
        </p:xfrm>
        <a:graphic>
          <a:graphicData uri="http://schemas.openxmlformats.org/drawingml/2006/table">
            <a:tbl>
              <a:tblPr>
                <a:noFill/>
                <a:tableStyleId>{5A491AD2-6B3D-4428-A2BC-5B2185DF4C95}</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0.0158</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0.0245</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2.65%</a:t>
                      </a:r>
                      <a:endParaRPr b="1"/>
                    </a:p>
                  </a:txBody>
                  <a:tcPr marT="91425" marB="91425" marR="91425" marL="91425"/>
                </a:tc>
              </a:tr>
            </a:tbl>
          </a:graphicData>
        </a:graphic>
      </p:graphicFrame>
      <p:graphicFrame>
        <p:nvGraphicFramePr>
          <p:cNvPr id="165" name="Google Shape;165;g3ddb62b7156_0_0"/>
          <p:cNvGraphicFramePr/>
          <p:nvPr/>
        </p:nvGraphicFramePr>
        <p:xfrm>
          <a:off x="6550750" y="5429650"/>
          <a:ext cx="3000000" cy="3000000"/>
        </p:xfrm>
        <a:graphic>
          <a:graphicData uri="http://schemas.openxmlformats.org/drawingml/2006/table">
            <a:tbl>
              <a:tblPr>
                <a:noFill/>
                <a:tableStyleId>{5A491AD2-6B3D-4428-A2BC-5B2185DF4C95}</a:tableStyleId>
              </a:tblPr>
              <a:tblGrid>
                <a:gridCol w="864250"/>
                <a:gridCol w="864250"/>
              </a:tblGrid>
              <a:tr h="4927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0.0179</a:t>
                      </a:r>
                      <a:endParaRPr b="1"/>
                    </a:p>
                  </a:txBody>
                  <a:tcPr marT="91425" marB="91425" marR="91425" marL="91425"/>
                </a:tc>
              </a:tr>
              <a:tr h="3486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0.0260</a:t>
                      </a:r>
                      <a:endParaRPr b="1"/>
                    </a:p>
                  </a:txBody>
                  <a:tcPr marT="91425" marB="91425" marR="91425" marL="91425"/>
                </a:tc>
              </a:tr>
              <a:tr h="3486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3.95%</a:t>
                      </a:r>
                      <a:endParaRPr b="1"/>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1049866" y="585216"/>
            <a:ext cx="9694333" cy="967201"/>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δεδομένων(1)</a:t>
            </a:r>
            <a:endParaRPr/>
          </a:p>
        </p:txBody>
      </p:sp>
      <p:sp>
        <p:nvSpPr>
          <p:cNvPr id="171" name="Google Shape;171;p8"/>
          <p:cNvSpPr/>
          <p:nvPr/>
        </p:nvSpPr>
        <p:spPr>
          <a:xfrm>
            <a:off x="6814047" y="4181945"/>
            <a:ext cx="4841816" cy="2308324"/>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b="1" lang="el-GR" sz="1800">
                <a:solidFill>
                  <a:srgbClr val="8E7CC3"/>
                </a:solidFill>
                <a:latin typeface="Calibri"/>
                <a:ea typeface="Calibri"/>
                <a:cs typeface="Calibri"/>
                <a:sym typeface="Calibri"/>
              </a:rPr>
              <a:t>cpu usage</a:t>
            </a:r>
            <a:r>
              <a:rPr lang="el-GR" sz="1800">
                <a:solidFill>
                  <a:srgbClr val="8E7CC3"/>
                </a:solidFill>
                <a:latin typeface="Calibri"/>
                <a:ea typeface="Calibri"/>
                <a:cs typeface="Calibri"/>
                <a:sym typeface="Calibri"/>
              </a:rPr>
              <a:t> </a:t>
            </a:r>
            <a:r>
              <a:rPr lang="el-GR" sz="1800">
                <a:solidFill>
                  <a:schemeClr val="dk1"/>
                </a:solidFill>
                <a:latin typeface="Calibri"/>
                <a:ea typeface="Calibri"/>
                <a:cs typeface="Calibri"/>
                <a:sym typeface="Calibri"/>
              </a:rPr>
              <a:t>εμφανίζει μεγαλύτερη διακύμανση. Η </a:t>
            </a:r>
            <a:r>
              <a:rPr b="1" lang="el-GR" sz="1800">
                <a:solidFill>
                  <a:srgbClr val="D5A6BD"/>
                </a:solidFill>
                <a:latin typeface="Calibri"/>
                <a:ea typeface="Calibri"/>
                <a:cs typeface="Calibri"/>
                <a:sym typeface="Calibri"/>
              </a:rPr>
              <a:t>memory usage</a:t>
            </a:r>
            <a:r>
              <a:rPr b="1" lang="el-GR" sz="1800">
                <a:solidFill>
                  <a:schemeClr val="dk1"/>
                </a:solidFill>
                <a:latin typeface="Calibri"/>
                <a:ea typeface="Calibri"/>
                <a:cs typeface="Calibri"/>
                <a:sym typeface="Calibri"/>
              </a:rPr>
              <a:t> </a:t>
            </a:r>
            <a:r>
              <a:rPr lang="el-GR" sz="1800">
                <a:solidFill>
                  <a:schemeClr val="dk1"/>
                </a:solidFill>
                <a:latin typeface="Calibri"/>
                <a:ea typeface="Calibri"/>
                <a:cs typeface="Calibri"/>
                <a:sym typeface="Calibri"/>
              </a:rPr>
              <a:t>είναι πολύ πιο σταθερή, με μικρό εύρος τιμών και χαμηλή τυπική απόκλιση.</a:t>
            </a:r>
            <a:endParaRPr>
              <a:latin typeface="Calibri"/>
              <a:ea typeface="Calibri"/>
              <a:cs typeface="Calibri"/>
              <a:sym typeface="Calibri"/>
            </a:endParaRPr>
          </a:p>
          <a:p>
            <a:pPr indent="-285750" lvl="0" marL="285750" marR="0" rtl="0" algn="just">
              <a:spcBef>
                <a:spcPts val="0"/>
              </a:spcBef>
              <a:spcAft>
                <a:spcPts val="0"/>
              </a:spcAft>
              <a:buClr>
                <a:srgbClr val="1482AB"/>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CPU</a:t>
            </a:r>
            <a:r>
              <a:rPr lang="el-GR" sz="1800">
                <a:solidFill>
                  <a:schemeClr val="dk1"/>
                </a:solidFill>
                <a:latin typeface="Calibri"/>
                <a:ea typeface="Calibri"/>
                <a:cs typeface="Calibri"/>
                <a:sym typeface="Calibri"/>
              </a:rPr>
              <a:t> είναι πιο προβλέψιμη, επειδή παρουσιάζει μεγαλύτερη μεταβλητότητα, ισχυρότερη αυτοσυσχέτιση και πιο καθαρή χρονική δομή από τη μνήμη.</a:t>
            </a:r>
            <a:endParaRPr>
              <a:latin typeface="Calibri"/>
              <a:ea typeface="Calibri"/>
              <a:cs typeface="Calibri"/>
              <a:sym typeface="Calibri"/>
            </a:endParaRPr>
          </a:p>
        </p:txBody>
      </p:sp>
      <p:sp>
        <p:nvSpPr>
          <p:cNvPr id="172" name="Google Shape;172;p8"/>
          <p:cNvSpPr/>
          <p:nvPr/>
        </p:nvSpPr>
        <p:spPr>
          <a:xfrm>
            <a:off x="879775" y="4426425"/>
            <a:ext cx="4926000" cy="2308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700">
                <a:solidFill>
                  <a:schemeClr val="dk1"/>
                </a:solidFill>
                <a:latin typeface="Calibri"/>
                <a:ea typeface="Calibri"/>
                <a:cs typeface="Calibri"/>
                <a:sym typeface="Calibri"/>
              </a:rPr>
              <a:t>Η χρονοσειρά της </a:t>
            </a:r>
            <a:r>
              <a:rPr lang="el-GR" sz="1700">
                <a:solidFill>
                  <a:srgbClr val="8E7CC3"/>
                </a:solidFill>
                <a:latin typeface="Calibri"/>
                <a:ea typeface="Calibri"/>
                <a:cs typeface="Calibri"/>
                <a:sym typeface="Calibri"/>
              </a:rPr>
              <a:t>CPU</a:t>
            </a:r>
            <a:r>
              <a:rPr lang="el-GR" sz="1700">
                <a:solidFill>
                  <a:schemeClr val="dk1"/>
                </a:solidFill>
                <a:latin typeface="Calibri"/>
                <a:ea typeface="Calibri"/>
                <a:cs typeface="Calibri"/>
                <a:sym typeface="Calibri"/>
              </a:rPr>
              <a:t> παρουσιάζει:</a:t>
            </a:r>
            <a:endParaRPr sz="13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σαφή τάση</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έντονη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ισχυρή χρονική εξάρτηση</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Η χρονοσειρά της </a:t>
            </a:r>
            <a:r>
              <a:rPr lang="el-GR" sz="1600">
                <a:solidFill>
                  <a:srgbClr val="EAD1DC"/>
                </a:solidFill>
                <a:latin typeface="Calibri"/>
                <a:ea typeface="Calibri"/>
                <a:cs typeface="Calibri"/>
                <a:sym typeface="Calibri"/>
              </a:rPr>
              <a:t>μνήμης</a:t>
            </a:r>
            <a:r>
              <a:rPr lang="el-GR" sz="1600">
                <a:solidFill>
                  <a:schemeClr val="dk1"/>
                </a:solidFill>
                <a:latin typeface="Calibri"/>
                <a:ea typeface="Calibri"/>
                <a:cs typeface="Calibri"/>
                <a:sym typeface="Calibri"/>
              </a:rPr>
              <a:t> παρουσιάζει:</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πιο ομαλή συμπεριφορά ,μικρότερη μεταβλητότητα</a:t>
            </a:r>
            <a:endParaRPr sz="1200">
              <a:latin typeface="Calibri"/>
              <a:ea typeface="Calibri"/>
              <a:cs typeface="Calibri"/>
              <a:sym typeface="Calibri"/>
            </a:endParaRPr>
          </a:p>
          <a:p>
            <a:pPr indent="-273050" lvl="0" marL="285750" marR="0" rtl="0" algn="just">
              <a:spcBef>
                <a:spcPts val="0"/>
              </a:spcBef>
              <a:spcAft>
                <a:spcPts val="0"/>
              </a:spcAft>
              <a:buClr>
                <a:srgbClr val="1C6294"/>
              </a:buClr>
              <a:buSzPts val="1600"/>
              <a:buFont typeface="Calibri"/>
              <a:buChar char="▪"/>
            </a:pPr>
            <a:r>
              <a:rPr lang="el-GR" sz="1600">
                <a:solidFill>
                  <a:schemeClr val="dk1"/>
                </a:solidFill>
                <a:latin typeface="Calibri"/>
                <a:ea typeface="Calibri"/>
                <a:cs typeface="Calibri"/>
                <a:sym typeface="Calibri"/>
              </a:rPr>
              <a:t>ασθενέστερο forecasting </a:t>
            </a:r>
            <a:endParaRPr sz="1200">
              <a:latin typeface="Calibri"/>
              <a:ea typeface="Calibri"/>
              <a:cs typeface="Calibri"/>
              <a:sym typeface="Calibri"/>
            </a:endParaRPr>
          </a:p>
          <a:p>
            <a:pPr indent="0" lvl="0" marL="0" marR="0" rtl="0" algn="just">
              <a:spcBef>
                <a:spcPts val="0"/>
              </a:spcBef>
              <a:spcAft>
                <a:spcPts val="0"/>
              </a:spcAft>
              <a:buNone/>
            </a:pPr>
            <a:r>
              <a:rPr lang="el-GR" sz="1600">
                <a:solidFill>
                  <a:schemeClr val="dk1"/>
                </a:solidFill>
                <a:latin typeface="Calibri"/>
                <a:ea typeface="Calibri"/>
                <a:cs typeface="Calibri"/>
                <a:sym typeface="Calibri"/>
              </a:rPr>
              <a:t>Οι δύο μεταβλητές έχουν διαφορετική χρονική δομή και επομένως διαφορετικό βαθμό προβλεψιμότητας.</a:t>
            </a:r>
            <a:endParaRPr sz="1200">
              <a:latin typeface="Calibri"/>
              <a:ea typeface="Calibri"/>
              <a:cs typeface="Calibri"/>
              <a:sym typeface="Calibri"/>
            </a:endParaRPr>
          </a:p>
        </p:txBody>
      </p:sp>
      <p:graphicFrame>
        <p:nvGraphicFramePr>
          <p:cNvPr id="173" name="Google Shape;173;p8"/>
          <p:cNvGraphicFramePr/>
          <p:nvPr/>
        </p:nvGraphicFramePr>
        <p:xfrm>
          <a:off x="6814050" y="2192775"/>
          <a:ext cx="3000000" cy="3000000"/>
        </p:xfrm>
        <a:graphic>
          <a:graphicData uri="http://schemas.openxmlformats.org/drawingml/2006/table">
            <a:tbl>
              <a:tblPr>
                <a:noFill/>
                <a:tableStyleId>{5A491AD2-6B3D-4428-A2BC-5B2185DF4C95}</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0.620</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0.487</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0.692</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0.062</a:t>
                      </a:r>
                      <a:endParaRPr/>
                    </a:p>
                  </a:txBody>
                  <a:tcPr marT="91425" marB="91425" marR="91425" marL="91425"/>
                </a:tc>
              </a:tr>
            </a:tbl>
          </a:graphicData>
        </a:graphic>
      </p:graphicFrame>
      <p:graphicFrame>
        <p:nvGraphicFramePr>
          <p:cNvPr id="174" name="Google Shape;174;p8"/>
          <p:cNvGraphicFramePr/>
          <p:nvPr/>
        </p:nvGraphicFramePr>
        <p:xfrm>
          <a:off x="9526600" y="2192763"/>
          <a:ext cx="3000000" cy="3000000"/>
        </p:xfrm>
        <a:graphic>
          <a:graphicData uri="http://schemas.openxmlformats.org/drawingml/2006/table">
            <a:tbl>
              <a:tblPr>
                <a:noFill/>
                <a:tableStyleId>{5A491AD2-6B3D-4428-A2BC-5B2185DF4C95}</a:tableStyleId>
              </a:tblPr>
              <a:tblGrid>
                <a:gridCol w="843525"/>
                <a:gridCol w="843525"/>
              </a:tblGrid>
              <a:tr h="294150">
                <a:tc>
                  <a:txBody>
                    <a:bodyPr/>
                    <a:lstStyle/>
                    <a:p>
                      <a:pPr indent="0" lvl="0" marL="0" rtl="0" algn="l">
                        <a:spcBef>
                          <a:spcPts val="0"/>
                        </a:spcBef>
                        <a:spcAft>
                          <a:spcPts val="0"/>
                        </a:spcAft>
                        <a:buNone/>
                      </a:pPr>
                      <a:r>
                        <a:rPr lang="el-GR"/>
                        <a:t>Average</a:t>
                      </a:r>
                      <a:endParaRPr/>
                    </a:p>
                  </a:txBody>
                  <a:tcPr marT="91425" marB="91425" marR="91425" marL="91425"/>
                </a:tc>
                <a:tc>
                  <a:txBody>
                    <a:bodyPr/>
                    <a:lstStyle/>
                    <a:p>
                      <a:pPr indent="0" lvl="0" marL="0" rtl="0" algn="l">
                        <a:spcBef>
                          <a:spcPts val="0"/>
                        </a:spcBef>
                        <a:spcAft>
                          <a:spcPts val="0"/>
                        </a:spcAft>
                        <a:buNone/>
                      </a:pPr>
                      <a:r>
                        <a:rPr lang="el-GR"/>
                        <a:t>0.759</a:t>
                      </a:r>
                      <a:endParaRPr/>
                    </a:p>
                  </a:txBody>
                  <a:tcPr marT="91425" marB="91425" marR="91425" marL="91425"/>
                </a:tc>
              </a:tr>
              <a:tr h="294150">
                <a:tc>
                  <a:txBody>
                    <a:bodyPr/>
                    <a:lstStyle/>
                    <a:p>
                      <a:pPr indent="0" lvl="0" marL="0" rtl="0" algn="l">
                        <a:spcBef>
                          <a:spcPts val="0"/>
                        </a:spcBef>
                        <a:spcAft>
                          <a:spcPts val="0"/>
                        </a:spcAft>
                        <a:buNone/>
                      </a:pPr>
                      <a:r>
                        <a:rPr lang="el-GR"/>
                        <a:t>Min</a:t>
                      </a:r>
                      <a:endParaRPr/>
                    </a:p>
                  </a:txBody>
                  <a:tcPr marT="91425" marB="91425" marR="91425" marL="91425"/>
                </a:tc>
                <a:tc>
                  <a:txBody>
                    <a:bodyPr/>
                    <a:lstStyle/>
                    <a:p>
                      <a:pPr indent="0" lvl="0" marL="0" rtl="0" algn="l">
                        <a:spcBef>
                          <a:spcPts val="0"/>
                        </a:spcBef>
                        <a:spcAft>
                          <a:spcPts val="0"/>
                        </a:spcAft>
                        <a:buNone/>
                      </a:pPr>
                      <a:r>
                        <a:rPr lang="el-GR"/>
                        <a:t>0.752</a:t>
                      </a:r>
                      <a:endParaRPr/>
                    </a:p>
                  </a:txBody>
                  <a:tcPr marT="91425" marB="91425" marR="91425" marL="91425"/>
                </a:tc>
              </a:tr>
              <a:tr h="294150">
                <a:tc>
                  <a:txBody>
                    <a:bodyPr/>
                    <a:lstStyle/>
                    <a:p>
                      <a:pPr indent="0" lvl="0" marL="0" rtl="0" algn="l">
                        <a:spcBef>
                          <a:spcPts val="0"/>
                        </a:spcBef>
                        <a:spcAft>
                          <a:spcPts val="0"/>
                        </a:spcAft>
                        <a:buNone/>
                      </a:pPr>
                      <a:r>
                        <a:rPr lang="el-GR"/>
                        <a:t>Max</a:t>
                      </a:r>
                      <a:endParaRPr/>
                    </a:p>
                  </a:txBody>
                  <a:tcPr marT="91425" marB="91425" marR="91425" marL="91425"/>
                </a:tc>
                <a:tc>
                  <a:txBody>
                    <a:bodyPr/>
                    <a:lstStyle/>
                    <a:p>
                      <a:pPr indent="0" lvl="0" marL="0" rtl="0" algn="l">
                        <a:spcBef>
                          <a:spcPts val="0"/>
                        </a:spcBef>
                        <a:spcAft>
                          <a:spcPts val="0"/>
                        </a:spcAft>
                        <a:buNone/>
                      </a:pPr>
                      <a:r>
                        <a:rPr lang="el-GR"/>
                        <a:t>0.776</a:t>
                      </a:r>
                      <a:endParaRPr/>
                    </a:p>
                  </a:txBody>
                  <a:tcPr marT="91425" marB="91425" marR="91425" marL="91425"/>
                </a:tc>
              </a:tr>
              <a:tr h="294150">
                <a:tc>
                  <a:txBody>
                    <a:bodyPr/>
                    <a:lstStyle/>
                    <a:p>
                      <a:pPr indent="0" lvl="0" marL="0" rtl="0" algn="l">
                        <a:spcBef>
                          <a:spcPts val="0"/>
                        </a:spcBef>
                        <a:spcAft>
                          <a:spcPts val="0"/>
                        </a:spcAft>
                        <a:buNone/>
                      </a:pPr>
                      <a:r>
                        <a:rPr lang="el-GR"/>
                        <a:t>Std dev</a:t>
                      </a:r>
                      <a:endParaRPr/>
                    </a:p>
                  </a:txBody>
                  <a:tcPr marT="91425" marB="91425" marR="91425" marL="91425"/>
                </a:tc>
                <a:tc>
                  <a:txBody>
                    <a:bodyPr/>
                    <a:lstStyle/>
                    <a:p>
                      <a:pPr indent="0" lvl="0" marL="0" rtl="0" algn="l">
                        <a:spcBef>
                          <a:spcPts val="0"/>
                        </a:spcBef>
                        <a:spcAft>
                          <a:spcPts val="0"/>
                        </a:spcAft>
                        <a:buNone/>
                      </a:pPr>
                      <a:r>
                        <a:rPr lang="el-GR"/>
                        <a:t>0.003</a:t>
                      </a:r>
                      <a:endParaRPr/>
                    </a:p>
                  </a:txBody>
                  <a:tcPr marT="91425" marB="91425" marR="91425" marL="91425"/>
                </a:tc>
              </a:tr>
            </a:tbl>
          </a:graphicData>
        </a:graphic>
      </p:graphicFrame>
      <p:sp>
        <p:nvSpPr>
          <p:cNvPr id="175" name="Google Shape;175;p8"/>
          <p:cNvSpPr txBox="1"/>
          <p:nvPr/>
        </p:nvSpPr>
        <p:spPr>
          <a:xfrm>
            <a:off x="6814050" y="1648050"/>
            <a:ext cx="1820100" cy="4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1900">
                <a:solidFill>
                  <a:srgbClr val="8E7CC3"/>
                </a:solidFill>
                <a:latin typeface="Calibri"/>
                <a:ea typeface="Calibri"/>
                <a:cs typeface="Calibri"/>
                <a:sym typeface="Calibri"/>
              </a:rPr>
              <a:t>Cpu usage</a:t>
            </a:r>
            <a:endParaRPr b="1" sz="1900">
              <a:solidFill>
                <a:srgbClr val="8E7CC3"/>
              </a:solidFill>
              <a:latin typeface="Calibri"/>
              <a:ea typeface="Calibri"/>
              <a:cs typeface="Calibri"/>
              <a:sym typeface="Calibri"/>
            </a:endParaRPr>
          </a:p>
        </p:txBody>
      </p:sp>
      <p:sp>
        <p:nvSpPr>
          <p:cNvPr id="176" name="Google Shape;176;p8"/>
          <p:cNvSpPr txBox="1"/>
          <p:nvPr/>
        </p:nvSpPr>
        <p:spPr>
          <a:xfrm>
            <a:off x="9526600" y="1634100"/>
            <a:ext cx="1687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1900">
                <a:solidFill>
                  <a:srgbClr val="D5A6BD"/>
                </a:solidFill>
                <a:latin typeface="Calibri"/>
                <a:ea typeface="Calibri"/>
                <a:cs typeface="Calibri"/>
                <a:sym typeface="Calibri"/>
              </a:rPr>
              <a:t>Memory usage</a:t>
            </a:r>
            <a:endParaRPr b="1" sz="1900">
              <a:solidFill>
                <a:srgbClr val="D5A6BD"/>
              </a:solidFill>
              <a:latin typeface="Calibri"/>
              <a:ea typeface="Calibri"/>
              <a:cs typeface="Calibri"/>
              <a:sym typeface="Calibri"/>
            </a:endParaRPr>
          </a:p>
        </p:txBody>
      </p:sp>
      <p:pic>
        <p:nvPicPr>
          <p:cNvPr id="177" name="Google Shape;177;p8"/>
          <p:cNvPicPr preferRelativeResize="0"/>
          <p:nvPr/>
        </p:nvPicPr>
        <p:blipFill>
          <a:blip r:embed="rId3">
            <a:alphaModFix/>
          </a:blip>
          <a:stretch>
            <a:fillRect/>
          </a:stretch>
        </p:blipFill>
        <p:spPr>
          <a:xfrm>
            <a:off x="600975" y="1648050"/>
            <a:ext cx="5813075" cy="2778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δεδομένων(2)</a:t>
            </a:r>
            <a:endParaRPr/>
          </a:p>
        </p:txBody>
      </p:sp>
      <p:pic>
        <p:nvPicPr>
          <p:cNvPr id="183" name="Google Shape;183;p9"/>
          <p:cNvPicPr preferRelativeResize="0"/>
          <p:nvPr/>
        </p:nvPicPr>
        <p:blipFill rotWithShape="1">
          <a:blip r:embed="rId3">
            <a:alphaModFix/>
          </a:blip>
          <a:srcRect b="0" l="0" r="0" t="0"/>
          <a:stretch/>
        </p:blipFill>
        <p:spPr>
          <a:xfrm>
            <a:off x="263044" y="2006600"/>
            <a:ext cx="7247082" cy="4266184"/>
          </a:xfrm>
          <a:prstGeom prst="rect">
            <a:avLst/>
          </a:prstGeom>
          <a:noFill/>
          <a:ln>
            <a:noFill/>
          </a:ln>
        </p:spPr>
      </p:pic>
      <p:sp>
        <p:nvSpPr>
          <p:cNvPr id="184" name="Google Shape;184;p9"/>
          <p:cNvSpPr/>
          <p:nvPr/>
        </p:nvSpPr>
        <p:spPr>
          <a:xfrm>
            <a:off x="7696200" y="2006600"/>
            <a:ext cx="3911021"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l-GR" sz="1800">
                <a:solidFill>
                  <a:schemeClr val="dk1"/>
                </a:solidFill>
                <a:latin typeface="Calibri"/>
                <a:ea typeface="Calibri"/>
                <a:cs typeface="Calibri"/>
                <a:sym typeface="Calibri"/>
              </a:rPr>
              <a:t>Το </a:t>
            </a:r>
            <a:r>
              <a:rPr b="1" lang="el-GR" sz="1800">
                <a:solidFill>
                  <a:schemeClr val="dk1"/>
                </a:solidFill>
                <a:latin typeface="Calibri"/>
                <a:ea typeface="Calibri"/>
                <a:cs typeface="Calibri"/>
                <a:sym typeface="Calibri"/>
              </a:rPr>
              <a:t>decomposition</a:t>
            </a:r>
            <a:r>
              <a:rPr lang="el-GR" sz="1800">
                <a:solidFill>
                  <a:schemeClr val="dk1"/>
                </a:solidFill>
                <a:latin typeface="Calibri"/>
                <a:ea typeface="Calibri"/>
                <a:cs typeface="Calibri"/>
                <a:sym typeface="Calibri"/>
              </a:rPr>
              <a:t> διαχώρισε  κάθε χρονοσειρά σε τέσσερα μέρη: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Original</a:t>
            </a:r>
            <a:r>
              <a:rPr lang="el-GR" sz="1800">
                <a:solidFill>
                  <a:schemeClr val="dk1"/>
                </a:solidFill>
                <a:latin typeface="Calibri"/>
                <a:ea typeface="Calibri"/>
                <a:cs typeface="Calibri"/>
                <a:sym typeface="Calibri"/>
              </a:rPr>
              <a:t>: η αρχική σειρά </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Trend</a:t>
            </a:r>
            <a:r>
              <a:rPr lang="el-GR" sz="1800">
                <a:solidFill>
                  <a:schemeClr val="dk1"/>
                </a:solidFill>
                <a:latin typeface="Calibri"/>
                <a:ea typeface="Calibri"/>
                <a:cs typeface="Calibri"/>
                <a:sym typeface="Calibri"/>
              </a:rPr>
              <a:t>: η μακροχρόνια τάση</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Seasonal</a:t>
            </a:r>
            <a:r>
              <a:rPr lang="el-GR" sz="1800">
                <a:solidFill>
                  <a:schemeClr val="dk1"/>
                </a:solidFill>
                <a:latin typeface="Calibri"/>
                <a:ea typeface="Calibri"/>
                <a:cs typeface="Calibri"/>
                <a:sym typeface="Calibri"/>
              </a:rPr>
              <a:t>:η επαναλαμβανόμενη περιοδική συμπεριφορά</a:t>
            </a:r>
            <a:endParaRPr>
              <a:latin typeface="Calibri"/>
              <a:ea typeface="Calibri"/>
              <a:cs typeface="Calibri"/>
              <a:sym typeface="Calibri"/>
            </a:endParaRPr>
          </a:p>
          <a:p>
            <a:pPr indent="0" lvl="0" marL="0" marR="0" rtl="0" algn="just">
              <a:spcBef>
                <a:spcPts val="0"/>
              </a:spcBef>
              <a:spcAft>
                <a:spcPts val="0"/>
              </a:spcAft>
              <a:buNone/>
            </a:pPr>
            <a:r>
              <a:rPr b="1" lang="el-GR" sz="1800">
                <a:solidFill>
                  <a:schemeClr val="dk1"/>
                </a:solidFill>
                <a:latin typeface="Calibri"/>
                <a:ea typeface="Calibri"/>
                <a:cs typeface="Calibri"/>
                <a:sym typeface="Calibri"/>
              </a:rPr>
              <a:t>Residual</a:t>
            </a:r>
            <a:r>
              <a:rPr lang="el-GR" sz="1800">
                <a:solidFill>
                  <a:schemeClr val="dk1"/>
                </a:solidFill>
                <a:latin typeface="Calibri"/>
                <a:ea typeface="Calibri"/>
                <a:cs typeface="Calibri"/>
                <a:sym typeface="Calibri"/>
              </a:rPr>
              <a:t>: ο θόρυβος ή ό,τι δεν εξηγείται από trend και seasonality.</a:t>
            </a:r>
            <a:endParaRPr>
              <a:latin typeface="Calibri"/>
              <a:ea typeface="Calibri"/>
              <a:cs typeface="Calibri"/>
              <a:sym typeface="Calibri"/>
            </a:endParaRPr>
          </a:p>
          <a:p>
            <a:pPr indent="0" lvl="0" marL="0" marR="0" rtl="0" algn="just">
              <a:spcBef>
                <a:spcPts val="0"/>
              </a:spcBef>
              <a:spcAft>
                <a:spcPts val="0"/>
              </a:spcAft>
              <a:buNone/>
            </a:pPr>
            <a:r>
              <a:rPr lang="el-GR" sz="1800">
                <a:solidFill>
                  <a:schemeClr val="dk1"/>
                </a:solidFill>
                <a:latin typeface="Calibri"/>
                <a:ea typeface="Calibri"/>
                <a:cs typeface="Calibri"/>
                <a:sym typeface="Calibri"/>
              </a:rPr>
              <a:t>Η CPU έχει ισχυρότερη τάση, καθαρότερη εποχικότητα και ισχυρότερη χρονική εξάρτηση.Η Memory είναι πιο επίπεδη, με ασθενέστερη τάση και μικρότερη εποχικότητα.Επομένως η CPU αναμένεται να είναι πιο κατάλληλη για forecasting από τη μνήμη.</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1024125" y="585223"/>
            <a:ext cx="9702600" cy="1200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Η ανάλυση των δεδομένων(3)</a:t>
            </a:r>
            <a:endParaRPr/>
          </a:p>
        </p:txBody>
      </p:sp>
      <p:pic>
        <p:nvPicPr>
          <p:cNvPr id="190" name="Google Shape;190;p10"/>
          <p:cNvPicPr preferRelativeResize="0"/>
          <p:nvPr>
            <p:ph idx="1" type="body"/>
          </p:nvPr>
        </p:nvPicPr>
        <p:blipFill rotWithShape="1">
          <a:blip r:embed="rId3">
            <a:alphaModFix/>
          </a:blip>
          <a:srcRect b="0" l="0" r="0" t="0"/>
          <a:stretch/>
        </p:blipFill>
        <p:spPr>
          <a:xfrm>
            <a:off x="1551036" y="1973900"/>
            <a:ext cx="8448900" cy="2383200"/>
          </a:xfrm>
          <a:prstGeom prst="rect">
            <a:avLst/>
          </a:prstGeom>
          <a:noFill/>
          <a:ln>
            <a:noFill/>
          </a:ln>
        </p:spPr>
      </p:pic>
      <p:sp>
        <p:nvSpPr>
          <p:cNvPr id="191" name="Google Shape;191;p10"/>
          <p:cNvSpPr/>
          <p:nvPr/>
        </p:nvSpPr>
        <p:spPr>
          <a:xfrm>
            <a:off x="452442" y="4545487"/>
            <a:ext cx="6096000" cy="17544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ACF της </a:t>
            </a:r>
            <a:r>
              <a:rPr lang="el-GR" sz="1800">
                <a:solidFill>
                  <a:srgbClr val="8E7CC3"/>
                </a:solidFill>
                <a:latin typeface="Calibri"/>
                <a:ea typeface="Calibri"/>
                <a:cs typeface="Calibri"/>
                <a:sym typeface="Calibri"/>
              </a:rPr>
              <a:t>CPU</a:t>
            </a:r>
            <a:r>
              <a:rPr lang="el-GR" sz="1800">
                <a:solidFill>
                  <a:schemeClr val="dk1"/>
                </a:solidFill>
                <a:latin typeface="Calibri"/>
                <a:ea typeface="Calibri"/>
                <a:cs typeface="Calibri"/>
                <a:sym typeface="Calibri"/>
              </a:rPr>
              <a:t> δείχνει πολύ ισχυρή θετική αυτοσυσχέτιση για μεγάλο αριθμό lags. Οι τιμές παραμένουν υψηλές και μειώνονται αργά όσο αυξάνει το lag. Αυτό σημαίνει ότι η τρέχουσα </a:t>
            </a:r>
            <a:r>
              <a:rPr lang="el-GR" sz="1800">
                <a:solidFill>
                  <a:srgbClr val="8E7CC3"/>
                </a:solidFill>
                <a:latin typeface="Calibri"/>
                <a:ea typeface="Calibri"/>
                <a:cs typeface="Calibri"/>
                <a:sym typeface="Calibri"/>
              </a:rPr>
              <a:t>τιμή της CPU</a:t>
            </a:r>
            <a:r>
              <a:rPr lang="el-GR" sz="1800">
                <a:solidFill>
                  <a:schemeClr val="dk1"/>
                </a:solidFill>
                <a:latin typeface="Calibri"/>
                <a:ea typeface="Calibri"/>
                <a:cs typeface="Calibri"/>
                <a:sym typeface="Calibri"/>
              </a:rPr>
              <a:t> εξαρτάται έντονα από τις προηγούμενες τιμές της, άρα η σειρά έχει ισχυρή χρονική μνήμη.</a:t>
            </a:r>
            <a:endParaRPr>
              <a:latin typeface="Calibri"/>
              <a:ea typeface="Calibri"/>
              <a:cs typeface="Calibri"/>
              <a:sym typeface="Calibri"/>
            </a:endParaRPr>
          </a:p>
        </p:txBody>
      </p:sp>
      <p:sp>
        <p:nvSpPr>
          <p:cNvPr id="192" name="Google Shape;192;p10"/>
          <p:cNvSpPr/>
          <p:nvPr/>
        </p:nvSpPr>
        <p:spPr>
          <a:xfrm>
            <a:off x="6731994" y="4667061"/>
            <a:ext cx="4251300" cy="120030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1C6294"/>
              </a:buClr>
              <a:buSzPts val="1800"/>
              <a:buFont typeface="Calibri"/>
              <a:buChar char="▪"/>
            </a:pPr>
            <a:r>
              <a:rPr lang="el-GR" sz="1800">
                <a:solidFill>
                  <a:schemeClr val="dk1"/>
                </a:solidFill>
                <a:latin typeface="Calibri"/>
                <a:ea typeface="Calibri"/>
                <a:cs typeface="Calibri"/>
                <a:sym typeface="Calibri"/>
              </a:rPr>
              <a:t>Η </a:t>
            </a:r>
            <a:r>
              <a:rPr lang="el-GR" sz="1800">
                <a:solidFill>
                  <a:srgbClr val="D5A6BD"/>
                </a:solidFill>
                <a:latin typeface="Calibri"/>
                <a:ea typeface="Calibri"/>
                <a:cs typeface="Calibri"/>
                <a:sym typeface="Calibri"/>
              </a:rPr>
              <a:t>μνήμη</a:t>
            </a:r>
            <a:r>
              <a:rPr lang="el-GR" sz="1800">
                <a:solidFill>
                  <a:schemeClr val="dk1"/>
                </a:solidFill>
                <a:latin typeface="Calibri"/>
                <a:ea typeface="Calibri"/>
                <a:cs typeface="Calibri"/>
                <a:sym typeface="Calibri"/>
              </a:rPr>
              <a:t> εμφανίζει πολύ ασθενέστερη αυτοσυσχέτιση, γεγονός που υποδηλώνει μικρότερη προβλεψιμότητα.</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198" name="Google Shape;198;p11"/>
          <p:cNvSpPr txBox="1"/>
          <p:nvPr>
            <p:ph idx="1" type="body"/>
          </p:nvPr>
        </p:nvSpPr>
        <p:spPr>
          <a:xfrm>
            <a:off x="782053" y="2322258"/>
            <a:ext cx="9720000" cy="40233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90000"/>
              </a:lnSpc>
              <a:spcBef>
                <a:spcPts val="1400"/>
              </a:spcBef>
              <a:spcAft>
                <a:spcPts val="0"/>
              </a:spcAft>
              <a:buSzPts val="2200"/>
              <a:buNone/>
            </a:pPr>
            <a:r>
              <a:rPr lang="el-GR"/>
              <a:t>-Έπειτα από την έρευνα που υλοποιήσαμε,αφαιρέσαμε τον υπολογισμό τoυ memory usage και μετρήσαμε μόνο το CPU (usage) σε όλες τις αρχιτεκτονικές.</a:t>
            </a:r>
            <a:endParaRPr/>
          </a:p>
          <a:p>
            <a:pPr indent="0" lvl="0" marL="0" rtl="0" algn="l">
              <a:lnSpc>
                <a:spcPct val="90000"/>
              </a:lnSpc>
              <a:spcBef>
                <a:spcPts val="1400"/>
              </a:spcBef>
              <a:spcAft>
                <a:spcPts val="0"/>
              </a:spcAft>
              <a:buSzPts val="2200"/>
              <a:buNone/>
            </a:pPr>
            <a:r>
              <a:rPr lang="el-GR"/>
              <a:t>-Διαχωρίσαμε τα δεδομένα σε </a:t>
            </a:r>
            <a:r>
              <a:rPr b="1" lang="el-GR"/>
              <a:t>train</a:t>
            </a:r>
            <a:r>
              <a:rPr lang="el-GR"/>
              <a:t> (80%),  </a:t>
            </a:r>
            <a:r>
              <a:rPr b="1" lang="el-GR"/>
              <a:t>test</a:t>
            </a:r>
            <a:r>
              <a:rPr lang="el-GR"/>
              <a:t> (10%) και </a:t>
            </a:r>
            <a:r>
              <a:rPr b="1" lang="el-GR"/>
              <a:t>validation </a:t>
            </a:r>
            <a:r>
              <a:rPr lang="el-GR"/>
              <a:t>(10%).</a:t>
            </a:r>
            <a:endParaRPr/>
          </a:p>
          <a:p>
            <a:pPr indent="0" lvl="0" marL="0" rtl="0" algn="just">
              <a:lnSpc>
                <a:spcPct val="90000"/>
              </a:lnSpc>
              <a:spcBef>
                <a:spcPts val="1400"/>
              </a:spcBef>
              <a:spcAft>
                <a:spcPts val="0"/>
              </a:spcAft>
              <a:buSzPts val="2200"/>
              <a:buNone/>
            </a:pPr>
            <a:r>
              <a:rPr lang="el-GR"/>
              <a:t>-Μετά την πρόβλεψη, το μοντέλο επιστρέφει τιμές σε κανονικοποιημένη μορφή (μεταξύ 0 και 1), επειδή τα δεδομένα είχαν αρχικά μετασχηματιστεί με τον MinMaxScaler κατά την προεπεξεργασία. Το inverse transform χρησιμοποιείται για να επαναφέρει αυτές τις τιμές στην αρχική τους κλίμακα, δηλαδή στις πραγματικές τιμές χρήσης CPU (%). Αυτό είναι απαραίτητο, γιατί μόνο έτσι μπορούμε να ερμηνεύσουμε σωστά τα αποτελέσματα σε πραγματικές μονάδες και όχι σε αφηρημένες κανονικοποιημένες τιμές. Επιπλέον, τα metrics όπως MSE, MAE και MAPE υπολογίζονται πάνω στις επαναφερόμενες τιμές, ώστε να δίνουν μια ρεαλιστική και αξιόπιστη εικόνα της απόδοσης του μοντέλου.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ddb62b7156_0_32"/>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Τροποποιήσεις της εργασίας μετά την ενδιάμεση παρουσίαση </a:t>
            </a:r>
            <a:endParaRPr/>
          </a:p>
        </p:txBody>
      </p:sp>
      <p:sp>
        <p:nvSpPr>
          <p:cNvPr id="204" name="Google Shape;204;g3ddb62b7156_0_32"/>
          <p:cNvSpPr txBox="1"/>
          <p:nvPr>
            <p:ph idx="1" type="body"/>
          </p:nvPr>
        </p:nvSpPr>
        <p:spPr>
          <a:xfrm>
            <a:off x="707400" y="2203650"/>
            <a:ext cx="10589400" cy="4126200"/>
          </a:xfrm>
          <a:prstGeom prst="rect">
            <a:avLst/>
          </a:prstGeom>
          <a:noFill/>
          <a:ln>
            <a:noFill/>
          </a:ln>
        </p:spPr>
        <p:txBody>
          <a:bodyPr anchorCtr="0" anchor="t" bIns="45700" lIns="45700" spcFirstLastPara="1" rIns="45700" wrap="square" tIns="45700">
            <a:noAutofit/>
          </a:bodyPr>
          <a:lstStyle/>
          <a:p>
            <a:pPr indent="0" lvl="0" marL="0" rtl="0" algn="just">
              <a:lnSpc>
                <a:spcPct val="90000"/>
              </a:lnSpc>
              <a:spcBef>
                <a:spcPts val="1400"/>
              </a:spcBef>
              <a:spcAft>
                <a:spcPts val="0"/>
              </a:spcAft>
              <a:buSzPts val="2200"/>
              <a:buNone/>
            </a:pPr>
            <a:r>
              <a:rPr lang="el-GR" sz="2400"/>
              <a:t>-</a:t>
            </a:r>
            <a:r>
              <a:rPr lang="el-GR" sz="1700"/>
              <a:t>Κατά την εκπαίδευση του μοντέλου προσθέσαμε το </a:t>
            </a:r>
            <a:r>
              <a:rPr b="1" lang="el-GR" sz="1700"/>
              <a:t>early stopping</a:t>
            </a:r>
            <a:r>
              <a:rPr lang="el-GR" sz="1700"/>
              <a:t>, το οποίο παρακολουθεί την απόδοση του μοντέλου στο validation set (μέσω του val loss) και σταματά αυτόματα την εκπαίδευση όταν το μοντέλο σταματήσει να βελτιώνεται για έναν συγκεκριμένο αριθμό εποχών (patience). Aν το validation loss δεν βελτιωθεί για 10 συνεχόμενα epochs, η εκπαίδευση σταματά και επαναφέρεται το καλύτερο μοντέλο που έχει επιτευχθεί. Αυτό βοηθάει να αποφεύγεται το overfitting, δηλαδή η περίπτωση όπου το μοντέλο μαθαίνει υπερβολικά καλά τα δεδομένα εκπαίδευσης αλλά δεν γενικεύει σωστά σε νέα δεδομένα. Παράλληλα, η διαδικασία των epochs και του batch size καθορίζει το πώς το μοντέλο “βλέπει” τα δεδομένα: κάθε epoch είναι ένα πέρασμα από όλο το training set, ενώ το batch size ορίζει πόσα δείγματα επεξεργάζεται κάθε φορά πριν γίνει ενημέρωση των βαρών. </a:t>
            </a:r>
            <a:endParaRPr sz="1700"/>
          </a:p>
          <a:p>
            <a:pPr indent="0" lvl="0" marL="0" rtl="0" algn="just">
              <a:lnSpc>
                <a:spcPct val="90000"/>
              </a:lnSpc>
              <a:spcBef>
                <a:spcPts val="1400"/>
              </a:spcBef>
              <a:spcAft>
                <a:spcPts val="0"/>
              </a:spcAft>
              <a:buSzPts val="2200"/>
              <a:buNone/>
            </a:pPr>
            <a:r>
              <a:rPr lang="el-GR" sz="1700"/>
              <a:t>-Ο αλγόριθμος βελτιστοποίησης </a:t>
            </a:r>
            <a:r>
              <a:rPr b="1" lang="el-GR" sz="1700"/>
              <a:t>Adam</a:t>
            </a:r>
            <a:r>
              <a:rPr lang="el-GR" sz="1700"/>
              <a:t> (Adaptive Moment Estimation), που χρησιμοποιείται στην εκπαίδευση του μοντέλου , είναι ένας από τους πιο δημοφιλείς optimizers για deep learning επειδή συνδυάζει τα πλεονεκτήματα του momentum και του adaptive learning rate. Στην πράξη, προσαρμόζει δυναμικά τον ρυθμό μάθησης για κάθε παράμετρο του μοντέλου ξεχωριστά, με βάση τόσο τον μέσο όρο των gradients (πρώτη ροπή) όσο και τη διακύμανσή τους (δεύτερη ροπή). Αυτό του επιτρέπει να κάνει πιο σταθερά και γρήγορα βήματα προς την ελαχιστοποίηση της συνάρτησης κόστους, χωρίς να “κολλάει” εύκολα ή να κάνει υπερβολικά μεγάλες ενημερώσεις. Ο Adam βοηθάει ιδιαίτερα γιατί τα time series δεδομένα έχουν θόρυβο και μη σταθερά μοτίβα, οπότε χρειάζεται ένας optimizer που να προσαρμόζεται γρήγορα και αποδοτικά κατά τη διάρκεια της εκπαίδευσης.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e28abe5f8d_7_0"/>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Τιμές μεταβλητών </a:t>
            </a:r>
            <a:endParaRPr/>
          </a:p>
        </p:txBody>
      </p:sp>
      <p:sp>
        <p:nvSpPr>
          <p:cNvPr id="211" name="Google Shape;211;g3e28abe5f8d_7_0"/>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lang="el-GR"/>
              <a:t>Χρησιμοποιήθηκαν σε όλους τους κώδικες οι παρακάτω τιμές για τις μεταβλητές για την παρουσίαση και την σύγκριση:</a:t>
            </a:r>
            <a:endParaRPr/>
          </a:p>
          <a:p>
            <a:pPr indent="-342900" lvl="0" marL="457200" rtl="0" algn="l">
              <a:lnSpc>
                <a:spcPct val="115000"/>
              </a:lnSpc>
              <a:spcBef>
                <a:spcPts val="800"/>
              </a:spcBef>
              <a:spcAft>
                <a:spcPts val="0"/>
              </a:spcAft>
              <a:buSzPts val="1800"/>
              <a:buChar char="●"/>
            </a:pPr>
            <a:r>
              <a:rPr lang="el-GR"/>
              <a:t>Epoch --&gt; 40 (Transformers 80)</a:t>
            </a:r>
            <a:endParaRPr/>
          </a:p>
          <a:p>
            <a:pPr indent="-342900" lvl="0" marL="457200" rtl="0" algn="l">
              <a:lnSpc>
                <a:spcPct val="115000"/>
              </a:lnSpc>
              <a:spcBef>
                <a:spcPts val="0"/>
              </a:spcBef>
              <a:spcAft>
                <a:spcPts val="0"/>
              </a:spcAft>
              <a:buSzPts val="1800"/>
              <a:buChar char="●"/>
            </a:pPr>
            <a:r>
              <a:rPr lang="el-GR"/>
              <a:t>Batch size --&gt; 32</a:t>
            </a:r>
            <a:endParaRPr/>
          </a:p>
          <a:p>
            <a:pPr indent="-342900" lvl="0" marL="457200" rtl="0" algn="l">
              <a:lnSpc>
                <a:spcPct val="115000"/>
              </a:lnSpc>
              <a:spcBef>
                <a:spcPts val="0"/>
              </a:spcBef>
              <a:spcAft>
                <a:spcPts val="0"/>
              </a:spcAft>
              <a:buSzPts val="1800"/>
              <a:buChar char="●"/>
            </a:pPr>
            <a:r>
              <a:rPr lang="el-GR"/>
              <a:t>Short --&gt; 5</a:t>
            </a:r>
            <a:endParaRPr/>
          </a:p>
          <a:p>
            <a:pPr indent="-342900" lvl="0" marL="457200" rtl="0" algn="l">
              <a:lnSpc>
                <a:spcPct val="115000"/>
              </a:lnSpc>
              <a:spcBef>
                <a:spcPts val="0"/>
              </a:spcBef>
              <a:spcAft>
                <a:spcPts val="0"/>
              </a:spcAft>
              <a:buSzPts val="1800"/>
              <a:buChar char="●"/>
            </a:pPr>
            <a:r>
              <a:rPr lang="el-GR"/>
              <a:t>Long --&gt; 10</a:t>
            </a:r>
            <a:endParaRPr/>
          </a:p>
          <a:p>
            <a:pPr indent="-342900" lvl="0" marL="457200" rtl="0" algn="l">
              <a:lnSpc>
                <a:spcPct val="115000"/>
              </a:lnSpc>
              <a:spcBef>
                <a:spcPts val="0"/>
              </a:spcBef>
              <a:spcAft>
                <a:spcPts val="0"/>
              </a:spcAft>
              <a:buSzPts val="1800"/>
              <a:buChar char="●"/>
            </a:pPr>
            <a:r>
              <a:rPr lang="el-GR"/>
              <a:t>Early Stopping --&gt; 10 Epochs (Transformers 12)</a:t>
            </a:r>
            <a:endParaRPr/>
          </a:p>
          <a:p>
            <a:pPr indent="-342900" lvl="0" marL="457200" rtl="0" algn="l">
              <a:lnSpc>
                <a:spcPct val="115000"/>
              </a:lnSpc>
              <a:spcBef>
                <a:spcPts val="0"/>
              </a:spcBef>
              <a:spcAft>
                <a:spcPts val="0"/>
              </a:spcAft>
              <a:buSzPts val="1800"/>
              <a:buChar char="●"/>
            </a:pPr>
            <a:r>
              <a:rPr lang="el-GR"/>
              <a:t>SEQ LEN --&gt; 24 (Transformers 36)</a:t>
            </a:r>
            <a:endParaRPr/>
          </a:p>
          <a:p>
            <a:pPr indent="0" lvl="0" marL="0" rtl="0" algn="l">
              <a:spcBef>
                <a:spcPts val="1200"/>
              </a:spcBef>
              <a:spcAft>
                <a:spcPts val="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ddb62b7156_0_13"/>
          <p:cNvSpPr/>
          <p:nvPr/>
        </p:nvSpPr>
        <p:spPr>
          <a:xfrm>
            <a:off x="755925" y="830900"/>
            <a:ext cx="6335100" cy="53625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18" name="Google Shape;218;g3ddb62b7156_0_13"/>
          <p:cNvPicPr preferRelativeResize="0"/>
          <p:nvPr/>
        </p:nvPicPr>
        <p:blipFill>
          <a:blip r:embed="rId3">
            <a:alphaModFix/>
          </a:blip>
          <a:stretch>
            <a:fillRect/>
          </a:stretch>
        </p:blipFill>
        <p:spPr>
          <a:xfrm>
            <a:off x="880100" y="991025"/>
            <a:ext cx="5992075" cy="2454200"/>
          </a:xfrm>
          <a:prstGeom prst="rect">
            <a:avLst/>
          </a:prstGeom>
          <a:noFill/>
          <a:ln>
            <a:noFill/>
          </a:ln>
        </p:spPr>
      </p:pic>
      <p:sp>
        <p:nvSpPr>
          <p:cNvPr id="219" name="Google Shape;219;g3ddb62b7156_0_13"/>
          <p:cNvSpPr txBox="1"/>
          <p:nvPr/>
        </p:nvSpPr>
        <p:spPr>
          <a:xfrm>
            <a:off x="8232625" y="757950"/>
            <a:ext cx="2883300" cy="7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short horizon</a:t>
            </a:r>
            <a:endParaRPr b="1" sz="2200">
              <a:solidFill>
                <a:srgbClr val="C27BA0"/>
              </a:solidFill>
              <a:latin typeface="Calibri"/>
              <a:ea typeface="Calibri"/>
              <a:cs typeface="Calibri"/>
              <a:sym typeface="Calibri"/>
            </a:endParaRPr>
          </a:p>
        </p:txBody>
      </p:sp>
      <p:graphicFrame>
        <p:nvGraphicFramePr>
          <p:cNvPr id="220" name="Google Shape;220;g3ddb62b7156_0_13"/>
          <p:cNvGraphicFramePr/>
          <p:nvPr/>
        </p:nvGraphicFramePr>
        <p:xfrm>
          <a:off x="8342725" y="1766175"/>
          <a:ext cx="3000000" cy="3000000"/>
        </p:xfrm>
        <a:graphic>
          <a:graphicData uri="http://schemas.openxmlformats.org/drawingml/2006/table">
            <a:tbl>
              <a:tblPr>
                <a:noFill/>
                <a:tableStyleId>{5A491AD2-6B3D-4428-A2BC-5B2185DF4C95}</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0.000147</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0.009651</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1.59</a:t>
                      </a:r>
                      <a:r>
                        <a:rPr b="1" lang="el-GR"/>
                        <a:t>%</a:t>
                      </a:r>
                      <a:endParaRPr b="1"/>
                    </a:p>
                  </a:txBody>
                  <a:tcPr marT="91425" marB="91425" marR="91425" marL="91425"/>
                </a:tc>
              </a:tr>
            </a:tbl>
          </a:graphicData>
        </a:graphic>
      </p:graphicFrame>
      <p:pic>
        <p:nvPicPr>
          <p:cNvPr id="221" name="Google Shape;221;g3ddb62b7156_0_13"/>
          <p:cNvPicPr preferRelativeResize="0"/>
          <p:nvPr/>
        </p:nvPicPr>
        <p:blipFill>
          <a:blip r:embed="rId4">
            <a:alphaModFix/>
          </a:blip>
          <a:stretch>
            <a:fillRect/>
          </a:stretch>
        </p:blipFill>
        <p:spPr>
          <a:xfrm>
            <a:off x="880100" y="3591125"/>
            <a:ext cx="5992075" cy="2371100"/>
          </a:xfrm>
          <a:prstGeom prst="rect">
            <a:avLst/>
          </a:prstGeom>
          <a:noFill/>
          <a:ln>
            <a:noFill/>
          </a:ln>
        </p:spPr>
      </p:pic>
      <p:sp>
        <p:nvSpPr>
          <p:cNvPr id="222" name="Google Shape;222;g3ddb62b7156_0_13"/>
          <p:cNvSpPr txBox="1"/>
          <p:nvPr/>
        </p:nvSpPr>
        <p:spPr>
          <a:xfrm>
            <a:off x="8232625" y="346415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παρουσίασε πολύ καλή απόδοση για H=5, επιτυγχάνοντας χαμηλά σφάλματα πρόβλεψης (MAPE = 1.59%). Οι καμπύλες train/validation loss δείχνουν σταθερή σύγκλιση χωρίς έντονο overfitting, ενώ οι προβλέψεις ακολουθούν ικανοποιητικά την πραγματική εξέλιξη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l-GR">
                <a:solidFill>
                  <a:schemeClr val="dk1"/>
                </a:solidFill>
                <a:latin typeface="Calibri"/>
                <a:ea typeface="Calibri"/>
                <a:cs typeface="Calibri"/>
                <a:sym typeface="Calibri"/>
              </a:rPr>
              <a:t>-Best epoch στο 21 με σταθερό validation loss και καλή γενίκευση. </a:t>
            </a:r>
            <a:endParaRPr>
              <a:solidFill>
                <a:schemeClr val="dk1"/>
              </a:solidFill>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ddb62b7156_0_22"/>
          <p:cNvSpPr/>
          <p:nvPr/>
        </p:nvSpPr>
        <p:spPr>
          <a:xfrm>
            <a:off x="548025" y="730650"/>
            <a:ext cx="6482100" cy="53967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29" name="Google Shape;229;g3ddb62b7156_0_22"/>
          <p:cNvPicPr preferRelativeResize="0"/>
          <p:nvPr/>
        </p:nvPicPr>
        <p:blipFill>
          <a:blip r:embed="rId3">
            <a:alphaModFix/>
          </a:blip>
          <a:stretch>
            <a:fillRect/>
          </a:stretch>
        </p:blipFill>
        <p:spPr>
          <a:xfrm>
            <a:off x="672200" y="869200"/>
            <a:ext cx="6212150" cy="2408275"/>
          </a:xfrm>
          <a:prstGeom prst="rect">
            <a:avLst/>
          </a:prstGeom>
          <a:noFill/>
          <a:ln>
            <a:noFill/>
          </a:ln>
        </p:spPr>
      </p:pic>
      <p:sp>
        <p:nvSpPr>
          <p:cNvPr id="230" name="Google Shape;230;g3ddb62b7156_0_22"/>
          <p:cNvSpPr txBox="1"/>
          <p:nvPr/>
        </p:nvSpPr>
        <p:spPr>
          <a:xfrm>
            <a:off x="7893700" y="6600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GRU αρχιτεκτονική για long horizon</a:t>
            </a:r>
            <a:endParaRPr b="1">
              <a:solidFill>
                <a:srgbClr val="C27BA0"/>
              </a:solidFill>
            </a:endParaRPr>
          </a:p>
        </p:txBody>
      </p:sp>
      <p:graphicFrame>
        <p:nvGraphicFramePr>
          <p:cNvPr id="231" name="Google Shape;231;g3ddb62b7156_0_22"/>
          <p:cNvGraphicFramePr/>
          <p:nvPr/>
        </p:nvGraphicFramePr>
        <p:xfrm>
          <a:off x="7893700" y="1679975"/>
          <a:ext cx="3000000" cy="3000000"/>
        </p:xfrm>
        <a:graphic>
          <a:graphicData uri="http://schemas.openxmlformats.org/drawingml/2006/table">
            <a:tbl>
              <a:tblPr>
                <a:noFill/>
                <a:tableStyleId>{5A491AD2-6B3D-4428-A2BC-5B2185DF4C95}</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0.000314</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0.015301</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2.52</a:t>
                      </a:r>
                      <a:r>
                        <a:rPr b="1" lang="el-GR"/>
                        <a:t>%</a:t>
                      </a:r>
                      <a:endParaRPr b="1"/>
                    </a:p>
                  </a:txBody>
                  <a:tcPr marT="91425" marB="91425" marR="91425" marL="91425"/>
                </a:tc>
              </a:tr>
            </a:tbl>
          </a:graphicData>
        </a:graphic>
      </p:graphicFrame>
      <p:pic>
        <p:nvPicPr>
          <p:cNvPr id="232" name="Google Shape;232;g3ddb62b7156_0_22"/>
          <p:cNvPicPr preferRelativeResize="0"/>
          <p:nvPr/>
        </p:nvPicPr>
        <p:blipFill>
          <a:blip r:embed="rId4">
            <a:alphaModFix/>
          </a:blip>
          <a:stretch>
            <a:fillRect/>
          </a:stretch>
        </p:blipFill>
        <p:spPr>
          <a:xfrm>
            <a:off x="672200" y="3374050"/>
            <a:ext cx="6163499" cy="2609500"/>
          </a:xfrm>
          <a:prstGeom prst="rect">
            <a:avLst/>
          </a:prstGeom>
          <a:noFill/>
          <a:ln>
            <a:noFill/>
          </a:ln>
        </p:spPr>
      </p:pic>
      <p:sp>
        <p:nvSpPr>
          <p:cNvPr id="233" name="Google Shape;233;g3ddb62b7156_0_22"/>
          <p:cNvSpPr txBox="1"/>
          <p:nvPr/>
        </p:nvSpPr>
        <p:spPr>
          <a:xfrm>
            <a:off x="7893700" y="3211800"/>
            <a:ext cx="3000000" cy="2986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GRU διατήρησε ικανοποιητική απόδοση για H=10, με σχετικά χαμηλά σφάλματα και σταθερή σύγκλιση κατά την εκπαίδευση. Παρότι η ακρίβεια μειώνεται σε σχέση με το short horizon, το μοντέλο εξακολουθεί να αποτυπώνει αποτελεσματικά τη γενική τάση της χρήσης CPU. </a:t>
            </a:r>
            <a:endParaRPr>
              <a:latin typeface="Calibri"/>
              <a:ea typeface="Calibri"/>
              <a:cs typeface="Calibri"/>
              <a:sym typeface="Calibri"/>
            </a:endParaRPr>
          </a:p>
          <a:p>
            <a:pPr indent="0" lvl="0" marL="0" rtl="0" algn="just">
              <a:spcBef>
                <a:spcPts val="0"/>
              </a:spcBef>
              <a:spcAft>
                <a:spcPts val="0"/>
              </a:spcAft>
              <a:buNone/>
            </a:pPr>
            <a:r>
              <a:t/>
            </a:r>
            <a:endParaRPr>
              <a:latin typeface="Calibri"/>
              <a:ea typeface="Calibri"/>
              <a:cs typeface="Calibri"/>
              <a:sym typeface="Calibri"/>
            </a:endParaRPr>
          </a:p>
          <a:p>
            <a:pPr indent="0" lvl="0" marL="0" rtl="0" algn="just">
              <a:spcBef>
                <a:spcPts val="0"/>
              </a:spcBef>
              <a:spcAft>
                <a:spcPts val="0"/>
              </a:spcAft>
              <a:buNone/>
            </a:pPr>
            <a:r>
              <a:rPr i="1" lang="el-GR" sz="1200">
                <a:solidFill>
                  <a:schemeClr val="dk1"/>
                </a:solidFill>
                <a:latin typeface="Calibri"/>
                <a:ea typeface="Calibri"/>
                <a:cs typeface="Calibri"/>
                <a:sym typeface="Calibri"/>
              </a:rPr>
              <a:t>-</a:t>
            </a:r>
            <a:r>
              <a:rPr lang="el-GR">
                <a:solidFill>
                  <a:schemeClr val="dk1"/>
                </a:solidFill>
                <a:latin typeface="Calibri"/>
                <a:ea typeface="Calibri"/>
                <a:cs typeface="Calibri"/>
                <a:sym typeface="Calibri"/>
              </a:rPr>
              <a:t>Best epoch στο 23, υποδεικνύοντας μεγαλύτερη δυσκολία στη long-horizon πρόβλεψη. </a:t>
            </a:r>
            <a:endParaRPr sz="17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403300" y="466125"/>
            <a:ext cx="6942900" cy="60312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39" name="Google Shape;239;p13"/>
          <p:cNvSpPr txBox="1"/>
          <p:nvPr>
            <p:ph type="title"/>
          </p:nvPr>
        </p:nvSpPr>
        <p:spPr>
          <a:xfrm>
            <a:off x="7916925" y="564075"/>
            <a:ext cx="3308400" cy="753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b="1" lang="el-GR" sz="2200">
                <a:solidFill>
                  <a:srgbClr val="C27BA0"/>
                </a:solidFill>
                <a:highlight>
                  <a:schemeClr val="lt1"/>
                </a:highlight>
              </a:rPr>
              <a:t>Το παλιό μοντέλο LSTM</a:t>
            </a:r>
            <a:endParaRPr b="1" sz="2200">
              <a:solidFill>
                <a:srgbClr val="C27BA0"/>
              </a:solidFill>
              <a:highlight>
                <a:schemeClr val="lt1"/>
              </a:highlight>
            </a:endParaRPr>
          </a:p>
        </p:txBody>
      </p:sp>
      <p:pic>
        <p:nvPicPr>
          <p:cNvPr id="240" name="Google Shape;240;p13"/>
          <p:cNvPicPr preferRelativeResize="0"/>
          <p:nvPr/>
        </p:nvPicPr>
        <p:blipFill>
          <a:blip r:embed="rId3">
            <a:alphaModFix/>
          </a:blip>
          <a:stretch>
            <a:fillRect/>
          </a:stretch>
        </p:blipFill>
        <p:spPr>
          <a:xfrm>
            <a:off x="567400" y="653175"/>
            <a:ext cx="6581551" cy="2780100"/>
          </a:xfrm>
          <a:prstGeom prst="rect">
            <a:avLst/>
          </a:prstGeom>
          <a:noFill/>
          <a:ln>
            <a:noFill/>
          </a:ln>
        </p:spPr>
      </p:pic>
      <p:pic>
        <p:nvPicPr>
          <p:cNvPr id="241" name="Google Shape;241;p13"/>
          <p:cNvPicPr preferRelativeResize="0"/>
          <p:nvPr/>
        </p:nvPicPr>
        <p:blipFill>
          <a:blip r:embed="rId4">
            <a:alphaModFix/>
          </a:blip>
          <a:stretch>
            <a:fillRect/>
          </a:stretch>
        </p:blipFill>
        <p:spPr>
          <a:xfrm>
            <a:off x="567400" y="3556575"/>
            <a:ext cx="6581550" cy="2780100"/>
          </a:xfrm>
          <a:prstGeom prst="rect">
            <a:avLst/>
          </a:prstGeom>
          <a:noFill/>
          <a:ln>
            <a:noFill/>
          </a:ln>
        </p:spPr>
      </p:pic>
      <p:graphicFrame>
        <p:nvGraphicFramePr>
          <p:cNvPr id="242" name="Google Shape;242;p13"/>
          <p:cNvGraphicFramePr/>
          <p:nvPr/>
        </p:nvGraphicFramePr>
        <p:xfrm>
          <a:off x="7916800" y="1641175"/>
          <a:ext cx="3000000" cy="3000000"/>
        </p:xfrm>
        <a:graphic>
          <a:graphicData uri="http://schemas.openxmlformats.org/drawingml/2006/table">
            <a:tbl>
              <a:tblPr>
                <a:noFill/>
                <a:tableStyleId>{5A491AD2-6B3D-4428-A2BC-5B2185DF4C95}</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0.000736</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0.017356</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2.84</a:t>
                      </a:r>
                      <a:r>
                        <a:rPr b="1" lang="el-GR"/>
                        <a:t>%</a:t>
                      </a:r>
                      <a:endParaRPr b="1"/>
                    </a:p>
                  </a:txBody>
                  <a:tcPr marT="91425" marB="91425" marR="91425" marL="91425"/>
                </a:tc>
              </a:tr>
            </a:tbl>
          </a:graphicData>
        </a:graphic>
      </p:graphicFrame>
      <p:graphicFrame>
        <p:nvGraphicFramePr>
          <p:cNvPr id="243" name="Google Shape;243;p13"/>
          <p:cNvGraphicFramePr/>
          <p:nvPr/>
        </p:nvGraphicFramePr>
        <p:xfrm>
          <a:off x="8029150" y="4751725"/>
          <a:ext cx="3000000" cy="3000000"/>
        </p:xfrm>
        <a:graphic>
          <a:graphicData uri="http://schemas.openxmlformats.org/drawingml/2006/table">
            <a:tbl>
              <a:tblPr>
                <a:noFill/>
                <a:tableStyleId>{5A491AD2-6B3D-4428-A2BC-5B2185DF4C95}</a:tableStyleId>
              </a:tblPr>
              <a:tblGrid>
                <a:gridCol w="1331550"/>
                <a:gridCol w="1331550"/>
              </a:tblGrid>
              <a:tr h="4488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0.000915</a:t>
                      </a:r>
                      <a:endParaRPr b="1"/>
                    </a:p>
                  </a:txBody>
                  <a:tcPr marT="91425" marB="91425" marR="91425" marL="91425"/>
                </a:tc>
              </a:tr>
              <a:tr h="4852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0.020134</a:t>
                      </a:r>
                      <a:endParaRPr b="1"/>
                    </a:p>
                  </a:txBody>
                  <a:tcPr marT="91425" marB="91425" marR="91425" marL="91425"/>
                </a:tc>
              </a:tr>
              <a:tr h="4852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3.30</a:t>
                      </a:r>
                      <a:r>
                        <a:rPr b="1" lang="el-GR"/>
                        <a:t>%</a:t>
                      </a:r>
                      <a:endParaRPr b="1"/>
                    </a:p>
                  </a:txBody>
                  <a:tcPr marT="91425" marB="91425" marR="91425" marL="91425"/>
                </a:tc>
              </a:tr>
            </a:tbl>
          </a:graphicData>
        </a:graphic>
      </p:graphicFrame>
      <p:sp>
        <p:nvSpPr>
          <p:cNvPr id="244" name="Google Shape;244;p13"/>
          <p:cNvSpPr/>
          <p:nvPr/>
        </p:nvSpPr>
        <p:spPr>
          <a:xfrm>
            <a:off x="7261300" y="2156300"/>
            <a:ext cx="6555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13"/>
          <p:cNvSpPr/>
          <p:nvPr/>
        </p:nvSpPr>
        <p:spPr>
          <a:xfrm>
            <a:off x="7293550" y="5266850"/>
            <a:ext cx="735600" cy="389100"/>
          </a:xfrm>
          <a:prstGeom prst="rightArrow">
            <a:avLst>
              <a:gd fmla="val 50000" name="adj1"/>
              <a:gd fmla="val 50000" name="adj2"/>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db62b7156_0_39"/>
          <p:cNvSpPr/>
          <p:nvPr/>
        </p:nvSpPr>
        <p:spPr>
          <a:xfrm>
            <a:off x="792400" y="891675"/>
            <a:ext cx="5751300" cy="47544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52" name="Google Shape;252;g3ddb62b7156_0_39"/>
          <p:cNvPicPr preferRelativeResize="0"/>
          <p:nvPr/>
        </p:nvPicPr>
        <p:blipFill>
          <a:blip r:embed="rId3">
            <a:alphaModFix/>
          </a:blip>
          <a:stretch>
            <a:fillRect/>
          </a:stretch>
        </p:blipFill>
        <p:spPr>
          <a:xfrm>
            <a:off x="924975" y="1047475"/>
            <a:ext cx="5387849" cy="2157975"/>
          </a:xfrm>
          <a:prstGeom prst="rect">
            <a:avLst/>
          </a:prstGeom>
          <a:noFill/>
          <a:ln>
            <a:noFill/>
          </a:ln>
        </p:spPr>
      </p:pic>
      <p:sp>
        <p:nvSpPr>
          <p:cNvPr id="253" name="Google Shape;253;g3ddb62b7156_0_39"/>
          <p:cNvSpPr txBox="1"/>
          <p:nvPr/>
        </p:nvSpPr>
        <p:spPr>
          <a:xfrm>
            <a:off x="7341650" y="891675"/>
            <a:ext cx="299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a:t>
            </a:r>
            <a:r>
              <a:rPr b="1" lang="el-GR" sz="2200">
                <a:solidFill>
                  <a:srgbClr val="C27BA0"/>
                </a:solidFill>
                <a:latin typeface="Calibri"/>
                <a:ea typeface="Calibri"/>
                <a:cs typeface="Calibri"/>
                <a:sym typeface="Calibri"/>
              </a:rPr>
              <a:t> αρχιτεκτονική για short horizon</a:t>
            </a:r>
            <a:endParaRPr b="1">
              <a:solidFill>
                <a:srgbClr val="C27BA0"/>
              </a:solidFill>
            </a:endParaRPr>
          </a:p>
        </p:txBody>
      </p:sp>
      <p:graphicFrame>
        <p:nvGraphicFramePr>
          <p:cNvPr id="254" name="Google Shape;254;g3ddb62b7156_0_39"/>
          <p:cNvGraphicFramePr/>
          <p:nvPr/>
        </p:nvGraphicFramePr>
        <p:xfrm>
          <a:off x="7459025" y="1943750"/>
          <a:ext cx="3000000" cy="3000000"/>
        </p:xfrm>
        <a:graphic>
          <a:graphicData uri="http://schemas.openxmlformats.org/drawingml/2006/table">
            <a:tbl>
              <a:tblPr>
                <a:noFill/>
                <a:tableStyleId>{5A491AD2-6B3D-4428-A2BC-5B2185DF4C95}</a:tableStyleId>
              </a:tblPr>
              <a:tblGrid>
                <a:gridCol w="1242125"/>
                <a:gridCol w="1242125"/>
              </a:tblGrid>
              <a:tr h="47600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0.000350</a:t>
                      </a:r>
                      <a:endParaRPr b="1"/>
                    </a:p>
                  </a:txBody>
                  <a:tcPr marT="91425" marB="91425" marR="91425" marL="91425"/>
                </a:tc>
              </a:tr>
              <a:tr h="47600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0.016694</a:t>
                      </a:r>
                      <a:endParaRPr b="1"/>
                    </a:p>
                  </a:txBody>
                  <a:tcPr marT="91425" marB="91425" marR="91425" marL="91425"/>
                </a:tc>
              </a:tr>
              <a:tr h="40147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2.77</a:t>
                      </a:r>
                      <a:r>
                        <a:rPr b="1" lang="el-GR"/>
                        <a:t>%</a:t>
                      </a:r>
                      <a:endParaRPr b="1"/>
                    </a:p>
                  </a:txBody>
                  <a:tcPr marT="91425" marB="91425" marR="91425" marL="91425"/>
                </a:tc>
              </a:tr>
            </a:tbl>
          </a:graphicData>
        </a:graphic>
      </p:graphicFrame>
      <p:sp>
        <p:nvSpPr>
          <p:cNvPr id="255" name="Google Shape;255;g3ddb62b7156_0_39"/>
          <p:cNvSpPr txBox="1"/>
          <p:nvPr/>
        </p:nvSpPr>
        <p:spPr>
          <a:xfrm>
            <a:off x="7459025" y="352207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a:t>
            </a:r>
            <a:r>
              <a:rPr lang="el-GR">
                <a:latin typeface="Calibri"/>
                <a:ea typeface="Calibri"/>
                <a:cs typeface="Calibri"/>
                <a:sym typeface="Calibri"/>
              </a:rPr>
              <a:t>παρουσίασε ικανοποιητική απόδοση για </a:t>
            </a:r>
            <a:r>
              <a:rPr lang="el-GR">
                <a:latin typeface="Calibri"/>
                <a:ea typeface="Calibri"/>
                <a:cs typeface="Calibri"/>
                <a:sym typeface="Calibri"/>
              </a:rPr>
              <a:t>H=5, ωστόσο εμφάνισε μεγαλύτερα σφάλματα σε σύγκριση με το GRU μοντέλο. Παρά τη σταθερή μείωση του training και validation loss, οι προβλέψεις αποκλίνουν περισσότερο από τις πραγματικές τιμές της χρήσης CPU. </a:t>
            </a:r>
            <a:endParaRPr>
              <a:latin typeface="Calibri"/>
              <a:ea typeface="Calibri"/>
              <a:cs typeface="Calibri"/>
              <a:sym typeface="Calibri"/>
            </a:endParaRPr>
          </a:p>
        </p:txBody>
      </p:sp>
      <p:pic>
        <p:nvPicPr>
          <p:cNvPr id="256" name="Google Shape;256;g3ddb62b7156_0_39"/>
          <p:cNvPicPr preferRelativeResize="0"/>
          <p:nvPr/>
        </p:nvPicPr>
        <p:blipFill>
          <a:blip r:embed="rId4">
            <a:alphaModFix/>
          </a:blip>
          <a:stretch>
            <a:fillRect/>
          </a:stretch>
        </p:blipFill>
        <p:spPr>
          <a:xfrm>
            <a:off x="924975" y="3350475"/>
            <a:ext cx="5387849" cy="21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ddb62b7156_0_47"/>
          <p:cNvSpPr/>
          <p:nvPr/>
        </p:nvSpPr>
        <p:spPr>
          <a:xfrm>
            <a:off x="786400" y="778625"/>
            <a:ext cx="6183000" cy="50013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sp>
        <p:nvSpPr>
          <p:cNvPr id="263" name="Google Shape;263;g3ddb62b7156_0_47"/>
          <p:cNvSpPr txBox="1"/>
          <p:nvPr/>
        </p:nvSpPr>
        <p:spPr>
          <a:xfrm>
            <a:off x="7565275" y="669200"/>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GR" sz="2200">
                <a:solidFill>
                  <a:srgbClr val="C27BA0"/>
                </a:solidFill>
                <a:latin typeface="Calibri"/>
                <a:ea typeface="Calibri"/>
                <a:cs typeface="Calibri"/>
                <a:sym typeface="Calibri"/>
              </a:rPr>
              <a:t>LSTM </a:t>
            </a:r>
            <a:r>
              <a:rPr b="1" lang="el-GR" sz="2200">
                <a:solidFill>
                  <a:srgbClr val="C27BA0"/>
                </a:solidFill>
                <a:latin typeface="Calibri"/>
                <a:ea typeface="Calibri"/>
                <a:cs typeface="Calibri"/>
                <a:sym typeface="Calibri"/>
              </a:rPr>
              <a:t>αρχιτεκτονική για long horizon</a:t>
            </a:r>
            <a:endParaRPr b="1">
              <a:solidFill>
                <a:srgbClr val="C27BA0"/>
              </a:solidFill>
            </a:endParaRPr>
          </a:p>
        </p:txBody>
      </p:sp>
      <p:graphicFrame>
        <p:nvGraphicFramePr>
          <p:cNvPr id="264" name="Google Shape;264;g3ddb62b7156_0_47"/>
          <p:cNvGraphicFramePr/>
          <p:nvPr/>
        </p:nvGraphicFramePr>
        <p:xfrm>
          <a:off x="7655475" y="1868850"/>
          <a:ext cx="3000000" cy="3000000"/>
        </p:xfrm>
        <a:graphic>
          <a:graphicData uri="http://schemas.openxmlformats.org/drawingml/2006/table">
            <a:tbl>
              <a:tblPr>
                <a:noFill/>
                <a:tableStyleId>{5A491AD2-6B3D-4428-A2BC-5B2185DF4C95}</a:tableStyleId>
              </a:tblPr>
              <a:tblGrid>
                <a:gridCol w="1349000"/>
                <a:gridCol w="1349000"/>
              </a:tblGrid>
              <a:tr h="48877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0.000269</a:t>
                      </a:r>
                      <a:endParaRPr b="1"/>
                    </a:p>
                  </a:txBody>
                  <a:tcPr marT="91425" marB="91425" marR="91425" marL="91425"/>
                </a:tc>
              </a:tr>
              <a:tr h="48877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0.014183</a:t>
                      </a:r>
                      <a:endParaRPr b="1"/>
                    </a:p>
                  </a:txBody>
                  <a:tcPr marT="91425" marB="91425" marR="91425" marL="91425"/>
                </a:tc>
              </a:tr>
              <a:tr h="33030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2.91</a:t>
                      </a:r>
                      <a:r>
                        <a:rPr b="1" lang="el-GR"/>
                        <a:t>%</a:t>
                      </a:r>
                      <a:endParaRPr b="1"/>
                    </a:p>
                  </a:txBody>
                  <a:tcPr marT="91425" marB="91425" marR="91425" marL="91425"/>
                </a:tc>
              </a:tr>
            </a:tbl>
          </a:graphicData>
        </a:graphic>
      </p:graphicFrame>
      <p:pic>
        <p:nvPicPr>
          <p:cNvPr id="265" name="Google Shape;265;g3ddb62b7156_0_47"/>
          <p:cNvPicPr preferRelativeResize="0"/>
          <p:nvPr/>
        </p:nvPicPr>
        <p:blipFill>
          <a:blip r:embed="rId3">
            <a:alphaModFix/>
          </a:blip>
          <a:stretch>
            <a:fillRect/>
          </a:stretch>
        </p:blipFill>
        <p:spPr>
          <a:xfrm>
            <a:off x="1059925" y="3261250"/>
            <a:ext cx="5666350" cy="2213975"/>
          </a:xfrm>
          <a:prstGeom prst="rect">
            <a:avLst/>
          </a:prstGeom>
          <a:noFill/>
          <a:ln>
            <a:noFill/>
          </a:ln>
        </p:spPr>
      </p:pic>
      <p:pic>
        <p:nvPicPr>
          <p:cNvPr id="266" name="Google Shape;266;g3ddb62b7156_0_47"/>
          <p:cNvPicPr preferRelativeResize="0"/>
          <p:nvPr/>
        </p:nvPicPr>
        <p:blipFill>
          <a:blip r:embed="rId4">
            <a:alphaModFix/>
          </a:blip>
          <a:stretch>
            <a:fillRect/>
          </a:stretch>
        </p:blipFill>
        <p:spPr>
          <a:xfrm>
            <a:off x="1059925" y="988375"/>
            <a:ext cx="5666350" cy="2102375"/>
          </a:xfrm>
          <a:prstGeom prst="rect">
            <a:avLst/>
          </a:prstGeom>
          <a:noFill/>
          <a:ln>
            <a:noFill/>
          </a:ln>
        </p:spPr>
      </p:pic>
      <p:sp>
        <p:nvSpPr>
          <p:cNvPr id="267" name="Google Shape;267;g3ddb62b7156_0_47"/>
          <p:cNvSpPr txBox="1"/>
          <p:nvPr/>
        </p:nvSpPr>
        <p:spPr>
          <a:xfrm>
            <a:off x="7504475" y="3655925"/>
            <a:ext cx="30000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l-GR">
                <a:latin typeface="Calibri"/>
                <a:ea typeface="Calibri"/>
                <a:cs typeface="Calibri"/>
                <a:sym typeface="Calibri"/>
              </a:rPr>
              <a:t>-</a:t>
            </a:r>
            <a:r>
              <a:rPr lang="el-GR">
                <a:latin typeface="Calibri"/>
                <a:ea typeface="Calibri"/>
                <a:cs typeface="Calibri"/>
                <a:sym typeface="Calibri"/>
              </a:rPr>
              <a:t>Η αρχιτεκτονική LSTM διατήρησε σχετικά σταθερή απόδοση για H=10, όμως οι προβλέψεις εμφανίζουν μεγαλύτερη απόκλιση από τις πραγματικές τιμές της χρήσης CPU. Παρά τη σταθερή εκπαίδευση, το μοντέλο δυσκολεύεται περισσότερο να αποτυπώσει τις διακυμάνσεις του σήματος. </a:t>
            </a:r>
            <a:endParaRPr>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e1ff4b86d3_0_0"/>
          <p:cNvSpPr/>
          <p:nvPr/>
        </p:nvSpPr>
        <p:spPr>
          <a:xfrm>
            <a:off x="166250" y="363850"/>
            <a:ext cx="11807400" cy="5259000"/>
          </a:xfrm>
          <a:prstGeom prst="rect">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A64D79"/>
              </a:solidFill>
              <a:latin typeface="Calibri"/>
              <a:ea typeface="Calibri"/>
              <a:cs typeface="Calibri"/>
              <a:sym typeface="Calibri"/>
            </a:endParaRPr>
          </a:p>
        </p:txBody>
      </p:sp>
      <p:pic>
        <p:nvPicPr>
          <p:cNvPr id="274" name="Google Shape;274;g3e1ff4b86d3_0_0"/>
          <p:cNvPicPr preferRelativeResize="0"/>
          <p:nvPr/>
        </p:nvPicPr>
        <p:blipFill>
          <a:blip r:embed="rId3">
            <a:alphaModFix/>
          </a:blip>
          <a:stretch>
            <a:fillRect/>
          </a:stretch>
        </p:blipFill>
        <p:spPr>
          <a:xfrm>
            <a:off x="237250" y="532675"/>
            <a:ext cx="5721247" cy="2649900"/>
          </a:xfrm>
          <a:prstGeom prst="rect">
            <a:avLst/>
          </a:prstGeom>
          <a:noFill/>
          <a:ln>
            <a:noFill/>
          </a:ln>
        </p:spPr>
      </p:pic>
      <p:pic>
        <p:nvPicPr>
          <p:cNvPr id="275" name="Google Shape;275;g3e1ff4b86d3_0_0"/>
          <p:cNvPicPr preferRelativeResize="0"/>
          <p:nvPr/>
        </p:nvPicPr>
        <p:blipFill>
          <a:blip r:embed="rId4">
            <a:alphaModFix/>
          </a:blip>
          <a:stretch>
            <a:fillRect/>
          </a:stretch>
        </p:blipFill>
        <p:spPr>
          <a:xfrm>
            <a:off x="415625" y="3361175"/>
            <a:ext cx="5071425" cy="2033225"/>
          </a:xfrm>
          <a:prstGeom prst="rect">
            <a:avLst/>
          </a:prstGeom>
          <a:noFill/>
          <a:ln>
            <a:noFill/>
          </a:ln>
        </p:spPr>
      </p:pic>
      <p:pic>
        <p:nvPicPr>
          <p:cNvPr id="276" name="Google Shape;276;g3e1ff4b86d3_0_0"/>
          <p:cNvPicPr preferRelativeResize="0"/>
          <p:nvPr/>
        </p:nvPicPr>
        <p:blipFill>
          <a:blip r:embed="rId5">
            <a:alphaModFix/>
          </a:blip>
          <a:stretch>
            <a:fillRect/>
          </a:stretch>
        </p:blipFill>
        <p:spPr>
          <a:xfrm>
            <a:off x="6066550" y="543950"/>
            <a:ext cx="5721250" cy="2649900"/>
          </a:xfrm>
          <a:prstGeom prst="rect">
            <a:avLst/>
          </a:prstGeom>
          <a:noFill/>
          <a:ln>
            <a:noFill/>
          </a:ln>
        </p:spPr>
      </p:pic>
      <p:pic>
        <p:nvPicPr>
          <p:cNvPr id="277" name="Google Shape;277;g3e1ff4b86d3_0_0"/>
          <p:cNvPicPr preferRelativeResize="0"/>
          <p:nvPr/>
        </p:nvPicPr>
        <p:blipFill>
          <a:blip r:embed="rId6">
            <a:alphaModFix/>
          </a:blip>
          <a:stretch>
            <a:fillRect/>
          </a:stretch>
        </p:blipFill>
        <p:spPr>
          <a:xfrm>
            <a:off x="6387225" y="3361175"/>
            <a:ext cx="5071424" cy="2084034"/>
          </a:xfrm>
          <a:prstGeom prst="rect">
            <a:avLst/>
          </a:prstGeom>
          <a:noFill/>
          <a:ln>
            <a:noFill/>
          </a:ln>
        </p:spPr>
      </p:pic>
      <p:graphicFrame>
        <p:nvGraphicFramePr>
          <p:cNvPr id="278" name="Google Shape;278;g3e1ff4b86d3_0_0"/>
          <p:cNvGraphicFramePr/>
          <p:nvPr/>
        </p:nvGraphicFramePr>
        <p:xfrm>
          <a:off x="1313425" y="5572988"/>
          <a:ext cx="3000000" cy="3000000"/>
        </p:xfrm>
        <a:graphic>
          <a:graphicData uri="http://schemas.openxmlformats.org/drawingml/2006/table">
            <a:tbl>
              <a:tblPr>
                <a:noFill/>
                <a:tableStyleId>{5A491AD2-6B3D-4428-A2BC-5B2185DF4C95}</a:tableStyleId>
              </a:tblPr>
              <a:tblGrid>
                <a:gridCol w="795250"/>
                <a:gridCol w="1279050"/>
              </a:tblGrid>
              <a:tr h="375925">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0.000518</a:t>
                      </a:r>
                      <a:endParaRPr b="1"/>
                    </a:p>
                  </a:txBody>
                  <a:tcPr marT="91425" marB="91425" marR="91425" marL="91425"/>
                </a:tc>
              </a:tr>
              <a:tr h="375925">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0.018911</a:t>
                      </a:r>
                      <a:endParaRPr b="1"/>
                    </a:p>
                  </a:txBody>
                  <a:tcPr marT="91425" marB="91425" marR="91425" marL="91425"/>
                </a:tc>
              </a:tr>
              <a:tr h="375925">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3.14</a:t>
                      </a:r>
                      <a:r>
                        <a:rPr b="1" lang="el-GR"/>
                        <a:t>%</a:t>
                      </a:r>
                      <a:endParaRPr b="1"/>
                    </a:p>
                  </a:txBody>
                  <a:tcPr marT="91425" marB="91425" marR="91425" marL="91425"/>
                </a:tc>
              </a:tr>
            </a:tbl>
          </a:graphicData>
        </a:graphic>
      </p:graphicFrame>
      <p:graphicFrame>
        <p:nvGraphicFramePr>
          <p:cNvPr id="279" name="Google Shape;279;g3e1ff4b86d3_0_0"/>
          <p:cNvGraphicFramePr/>
          <p:nvPr/>
        </p:nvGraphicFramePr>
        <p:xfrm>
          <a:off x="8695175" y="5612513"/>
          <a:ext cx="3000000" cy="3000000"/>
        </p:xfrm>
        <a:graphic>
          <a:graphicData uri="http://schemas.openxmlformats.org/drawingml/2006/table">
            <a:tbl>
              <a:tblPr>
                <a:noFill/>
                <a:tableStyleId>{5A491AD2-6B3D-4428-A2BC-5B2185DF4C95}</a:tableStyleId>
              </a:tblPr>
              <a:tblGrid>
                <a:gridCol w="926250"/>
                <a:gridCol w="1148050"/>
              </a:tblGrid>
              <a:tr h="355750">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0.000961</a:t>
                      </a:r>
                      <a:endParaRPr b="1"/>
                    </a:p>
                  </a:txBody>
                  <a:tcPr marT="91425" marB="91425" marR="91425" marL="91425"/>
                </a:tc>
              </a:tr>
              <a:tr h="355750">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0.026394</a:t>
                      </a:r>
                      <a:endParaRPr b="1"/>
                    </a:p>
                  </a:txBody>
                  <a:tcPr marT="91425" marB="91425" marR="91425" marL="91425"/>
                </a:tc>
              </a:tr>
              <a:tr h="314250">
                <a:tc>
                  <a:txBody>
                    <a:bodyPr/>
                    <a:lstStyle/>
                    <a:p>
                      <a:pPr indent="0" lvl="0" marL="0" rtl="0" algn="l">
                        <a:spcBef>
                          <a:spcPts val="0"/>
                        </a:spcBef>
                        <a:spcAft>
                          <a:spcPts val="0"/>
                        </a:spcAft>
                        <a:buNone/>
                      </a:pPr>
                      <a:r>
                        <a:rPr b="1" lang="el-GR"/>
                        <a:t>MAPE</a:t>
                      </a:r>
                      <a:endParaRPr b="1"/>
                    </a:p>
                  </a:txBody>
                  <a:tcPr marT="91425" marB="91425" marR="91425" marL="91425"/>
                </a:tc>
                <a:tc>
                  <a:txBody>
                    <a:bodyPr/>
                    <a:lstStyle/>
                    <a:p>
                      <a:pPr indent="0" lvl="0" marL="0" rtl="0" algn="l">
                        <a:spcBef>
                          <a:spcPts val="0"/>
                        </a:spcBef>
                        <a:spcAft>
                          <a:spcPts val="0"/>
                        </a:spcAft>
                        <a:buNone/>
                      </a:pPr>
                      <a:r>
                        <a:rPr b="1" lang="el-GR"/>
                        <a:t>4.40</a:t>
                      </a:r>
                      <a:r>
                        <a:rPr b="1" lang="el-GR"/>
                        <a:t>%</a:t>
                      </a:r>
                      <a:endParaRPr b="1"/>
                    </a:p>
                  </a:txBody>
                  <a:tcPr marT="91425" marB="91425" marR="91425" marL="91425"/>
                </a:tc>
              </a:tr>
            </a:tbl>
          </a:graphicData>
        </a:graphic>
      </p:graphicFrame>
      <p:sp>
        <p:nvSpPr>
          <p:cNvPr id="280" name="Google Shape;280;g3e1ff4b86d3_0_0"/>
          <p:cNvSpPr txBox="1"/>
          <p:nvPr/>
        </p:nvSpPr>
        <p:spPr>
          <a:xfrm>
            <a:off x="4413925" y="5573000"/>
            <a:ext cx="3000000" cy="1200600"/>
          </a:xfrm>
          <a:prstGeom prst="rect">
            <a:avLst/>
          </a:prstGeom>
          <a:solidFill>
            <a:srgbClr val="674EA7"/>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100">
                <a:solidFill>
                  <a:srgbClr val="D5A6BD"/>
                </a:solidFill>
                <a:latin typeface="Calibri"/>
                <a:ea typeface="Calibri"/>
                <a:cs typeface="Calibri"/>
                <a:sym typeface="Calibri"/>
              </a:rPr>
              <a:t>-</a:t>
            </a:r>
            <a:r>
              <a:rPr b="1" lang="el-GR" sz="1100">
                <a:solidFill>
                  <a:srgbClr val="D5A6BD"/>
                </a:solidFill>
                <a:latin typeface="Calibri"/>
                <a:ea typeface="Calibri"/>
                <a:cs typeface="Calibri"/>
                <a:sym typeface="Calibri"/>
              </a:rPr>
              <a:t>Ο Transformer παρουσίασε σταθερή σύγκλιση αλλά χαμηλότερη ακρίβεια σε σχέση με GRU και LSTM.</a:t>
            </a:r>
            <a:endParaRPr b="1" sz="1100">
              <a:solidFill>
                <a:srgbClr val="D5A6BD"/>
              </a:solidFill>
              <a:latin typeface="Calibri"/>
              <a:ea typeface="Calibri"/>
              <a:cs typeface="Calibri"/>
              <a:sym typeface="Calibri"/>
            </a:endParaRPr>
          </a:p>
          <a:p>
            <a:pPr indent="0" lvl="0" marL="0" rtl="0" algn="just">
              <a:spcBef>
                <a:spcPts val="0"/>
              </a:spcBef>
              <a:spcAft>
                <a:spcPts val="0"/>
              </a:spcAft>
              <a:buNone/>
            </a:pPr>
            <a:r>
              <a:rPr b="1" lang="el-GR" sz="1100">
                <a:solidFill>
                  <a:srgbClr val="D5A6BD"/>
                </a:solidFill>
                <a:latin typeface="Calibri"/>
                <a:ea typeface="Calibri"/>
                <a:cs typeface="Calibri"/>
                <a:sym typeface="Calibri"/>
              </a:rPr>
              <a:t>-Η απόδοση μειώθηκε αισθητά στο long horizon, με μεγαλύτερη απόκλιση από τις πραγματικές τιμές CPU usage.</a:t>
            </a:r>
            <a:endParaRPr b="1" sz="1100">
              <a:solidFill>
                <a:srgbClr val="D5A6BD"/>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e2395259f8_0_0"/>
          <p:cNvSpPr txBox="1"/>
          <p:nvPr>
            <p:ph type="title"/>
          </p:nvPr>
        </p:nvSpPr>
        <p:spPr>
          <a:xfrm>
            <a:off x="1024125" y="585223"/>
            <a:ext cx="9720000" cy="1206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sz="4500"/>
              <a:t>Συγκριτικός πίνακας αποτελεσμάτων</a:t>
            </a:r>
            <a:endParaRPr sz="4500"/>
          </a:p>
        </p:txBody>
      </p:sp>
      <p:graphicFrame>
        <p:nvGraphicFramePr>
          <p:cNvPr id="287" name="Google Shape;287;g3e2395259f8_0_0"/>
          <p:cNvGraphicFramePr/>
          <p:nvPr/>
        </p:nvGraphicFramePr>
        <p:xfrm>
          <a:off x="1141800" y="1896450"/>
          <a:ext cx="3000000" cy="3000000"/>
        </p:xfrm>
        <a:graphic>
          <a:graphicData uri="http://schemas.openxmlformats.org/drawingml/2006/table">
            <a:tbl>
              <a:tblPr>
                <a:noFill/>
                <a:tableStyleId>{5A491AD2-6B3D-4428-A2BC-5B2185DF4C95}</a:tableStyleId>
              </a:tblPr>
              <a:tblGrid>
                <a:gridCol w="1695050"/>
                <a:gridCol w="1695050"/>
                <a:gridCol w="1695050"/>
                <a:gridCol w="1695050"/>
                <a:gridCol w="1695050"/>
              </a:tblGrid>
              <a:tr h="3058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MSE</a:t>
                      </a:r>
                      <a:endParaRPr b="1"/>
                    </a:p>
                  </a:txBody>
                  <a:tcPr marT="91425" marB="91425" marR="91425" marL="91425"/>
                </a:tc>
                <a:tc>
                  <a:txBody>
                    <a:bodyPr/>
                    <a:lstStyle/>
                    <a:p>
                      <a:pPr indent="0" lvl="0" marL="0" rtl="0" algn="l">
                        <a:spcBef>
                          <a:spcPts val="0"/>
                        </a:spcBef>
                        <a:spcAft>
                          <a:spcPts val="0"/>
                        </a:spcAft>
                        <a:buNone/>
                      </a:pPr>
                      <a:r>
                        <a:rPr b="1" lang="el-GR"/>
                        <a:t>MAE</a:t>
                      </a:r>
                      <a:endParaRPr b="1"/>
                    </a:p>
                  </a:txBody>
                  <a:tcPr marT="91425" marB="91425" marR="91425" marL="91425"/>
                </a:tc>
                <a:tc>
                  <a:txBody>
                    <a:bodyPr/>
                    <a:lstStyle/>
                    <a:p>
                      <a:pPr indent="0" lvl="0" marL="0" rtl="0" algn="l">
                        <a:spcBef>
                          <a:spcPts val="0"/>
                        </a:spcBef>
                        <a:spcAft>
                          <a:spcPts val="0"/>
                        </a:spcAft>
                        <a:buNone/>
                      </a:pPr>
                      <a:r>
                        <a:rPr b="1" lang="el-GR"/>
                        <a:t>MAPE</a:t>
                      </a:r>
                      <a:endParaRPr b="1"/>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0.000350</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0.016694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2.77%</a:t>
                      </a:r>
                      <a:endParaRPr/>
                    </a:p>
                  </a:txBody>
                  <a:tcPr marT="91425" marB="91425" marR="91425" marL="91425"/>
                </a:tc>
              </a:tr>
              <a:tr h="3058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0.000269</a:t>
                      </a:r>
                      <a:endParaRPr/>
                    </a:p>
                  </a:txBody>
                  <a:tcPr marT="91425" marB="91425" marR="91425" marL="91425"/>
                </a:tc>
                <a:tc>
                  <a:txBody>
                    <a:bodyPr/>
                    <a:lstStyle/>
                    <a:p>
                      <a:pPr indent="0" lvl="0" marL="0" rtl="0" algn="l">
                        <a:spcBef>
                          <a:spcPts val="0"/>
                        </a:spcBef>
                        <a:spcAft>
                          <a:spcPts val="0"/>
                        </a:spcAft>
                        <a:buNone/>
                      </a:pPr>
                      <a:r>
                        <a:rPr b="1" lang="el-GR">
                          <a:solidFill>
                            <a:schemeClr val="dk1"/>
                          </a:solidFill>
                        </a:rPr>
                        <a:t>0.014183</a:t>
                      </a:r>
                      <a:endParaRPr/>
                    </a:p>
                  </a:txBody>
                  <a:tcPr marT="91425" marB="91425" marR="91425" marL="91425"/>
                </a:tc>
                <a:tc>
                  <a:txBody>
                    <a:bodyPr/>
                    <a:lstStyle/>
                    <a:p>
                      <a:pPr indent="0" lvl="0" marL="0" rtl="0" algn="l">
                        <a:spcBef>
                          <a:spcPts val="0"/>
                        </a:spcBef>
                        <a:spcAft>
                          <a:spcPts val="0"/>
                        </a:spcAft>
                        <a:buNone/>
                      </a:pPr>
                      <a:r>
                        <a:rPr b="1" lang="el-GR"/>
                        <a:t>2.91%</a:t>
                      </a:r>
                      <a:endParaRPr b="1"/>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0.000147</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0.009651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1.59%</a:t>
                      </a:r>
                      <a:endParaRPr/>
                    </a:p>
                  </a:txBody>
                  <a:tcPr marT="91425" marB="91425" marR="91425" marL="91425"/>
                </a:tc>
              </a:tr>
              <a:tr h="3058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0.000314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0.015301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2.52%</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0.000518</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0.018911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3.14%</a:t>
                      </a:r>
                      <a:endParaRPr/>
                    </a:p>
                  </a:txBody>
                  <a:tcPr marT="91425" marB="91425" marR="91425" marL="91425"/>
                </a:tc>
              </a:tr>
              <a:tr h="3058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0.000961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0.026394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4.40%</a:t>
                      </a:r>
                      <a:endParaRPr/>
                    </a:p>
                  </a:txBody>
                  <a:tcPr marT="91425" marB="91425" marR="91425" marL="91425"/>
                </a:tc>
              </a:tr>
            </a:tbl>
          </a:graphicData>
        </a:graphic>
      </p:graphicFrame>
      <p:sp>
        <p:nvSpPr>
          <p:cNvPr id="288" name="Google Shape;288;g3e2395259f8_0_0"/>
          <p:cNvSpPr txBox="1"/>
          <p:nvPr/>
        </p:nvSpPr>
        <p:spPr>
          <a:xfrm>
            <a:off x="1141800" y="4774775"/>
            <a:ext cx="8952600" cy="2016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l-GR" sz="1500">
                <a:solidFill>
                  <a:schemeClr val="dk1"/>
                </a:solidFill>
                <a:latin typeface="Calibri"/>
                <a:ea typeface="Calibri"/>
                <a:cs typeface="Calibri"/>
                <a:sym typeface="Calibri"/>
              </a:rPr>
              <a:t>Tελικά συμπεράσματα</a:t>
            </a:r>
            <a:r>
              <a:rPr b="1" lang="el-GR" sz="1500">
                <a:solidFill>
                  <a:schemeClr val="dk1"/>
                </a:solidFill>
                <a:latin typeface="Calibri"/>
                <a:ea typeface="Calibri"/>
                <a:cs typeface="Calibri"/>
                <a:sym typeface="Calibri"/>
              </a:rPr>
              <a:t>:</a:t>
            </a:r>
            <a:endParaRPr b="1"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GRU πέτυχε την καλύτερη συνολική απόδοση και τη μεγαλύτερη ακρίβεια πρόβλεψης, παρουσιάζοντας τα χαμηλότερα σφάλματα και ταχύτερη σύγκλιση κατά την εκπαίδευση.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-Το LSTM παρουσίασε σταθερή και αξιόπιστη συμπεριφορά, με  χαμηλότερη ακρίβεια και μεγαλύτερο αριθμό epochs μέχρι τη βέλτιστη σύγκλιση.</a:t>
            </a:r>
            <a:endParaRPr sz="1500">
              <a:solidFill>
                <a:schemeClr val="dk1"/>
              </a:solidFill>
              <a:latin typeface="Calibri"/>
              <a:ea typeface="Calibri"/>
              <a:cs typeface="Calibri"/>
              <a:sym typeface="Calibri"/>
            </a:endParaRPr>
          </a:p>
          <a:p>
            <a:pPr indent="0" lvl="0" marL="0" rtl="0" algn="just">
              <a:spcBef>
                <a:spcPts val="0"/>
              </a:spcBef>
              <a:spcAft>
                <a:spcPts val="0"/>
              </a:spcAft>
              <a:buNone/>
            </a:pPr>
            <a:r>
              <a:rPr lang="el-GR" sz="1500">
                <a:solidFill>
                  <a:schemeClr val="dk1"/>
                </a:solidFill>
                <a:latin typeface="Calibri"/>
                <a:ea typeface="Calibri"/>
                <a:cs typeface="Calibri"/>
                <a:sym typeface="Calibri"/>
              </a:rPr>
              <a:t>-Οι Transformers εμφάνισαν μεγαλύτερη δυσκολία στη long-horizon πρόβλεψη, παρουσιάζοντας αυξημένα σφάλματα και μικρότερη ικανότητα αποτύπωσης των τοπικών μεταβολών της χρήσης CPU.</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e28abe5f8d_5_11"/>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l-GR"/>
              <a:t>Το inference time των μοντέλων</a:t>
            </a:r>
            <a:endParaRPr/>
          </a:p>
        </p:txBody>
      </p:sp>
      <p:sp>
        <p:nvSpPr>
          <p:cNvPr id="295" name="Google Shape;295;g3e28abe5f8d_5_11"/>
          <p:cNvSpPr txBox="1"/>
          <p:nvPr>
            <p:ph idx="1" type="body"/>
          </p:nvPr>
        </p:nvSpPr>
        <p:spPr>
          <a:xfrm>
            <a:off x="6470900" y="2315950"/>
            <a:ext cx="4973400" cy="3588000"/>
          </a:xfrm>
          <a:prstGeom prst="rect">
            <a:avLst/>
          </a:prstGeom>
        </p:spPr>
        <p:txBody>
          <a:bodyPr anchorCtr="0" anchor="t" bIns="45700" lIns="45700" spcFirstLastPara="1" rIns="45700" wrap="square" tIns="45700">
            <a:normAutofit fontScale="25000" lnSpcReduction="20000"/>
          </a:bodyPr>
          <a:lstStyle/>
          <a:p>
            <a:pPr indent="0" lvl="0" marL="0" rtl="0" algn="just">
              <a:lnSpc>
                <a:spcPct val="115000"/>
              </a:lnSpc>
              <a:spcBef>
                <a:spcPts val="0"/>
              </a:spcBef>
              <a:spcAft>
                <a:spcPts val="0"/>
              </a:spcAft>
              <a:buNone/>
            </a:pPr>
            <a:r>
              <a:rPr lang="el-GR" sz="5600"/>
              <a:t>-</a:t>
            </a:r>
            <a:r>
              <a:rPr lang="el-GR" sz="5600"/>
              <a:t>Τ</a:t>
            </a:r>
            <a:r>
              <a:rPr lang="el-GR" sz="5600"/>
              <a:t>ο inference time μετρά πόσο γρήγορα το μοντέλο κάνει prediction στο test set,δηλαδή την ταχύτητα εκτέλεσης της πρόβλεψης μετά την ολοκλήρωση της εκπαίδευσης.</a:t>
            </a:r>
            <a:endParaRPr sz="5600"/>
          </a:p>
          <a:p>
            <a:pPr indent="0" lvl="0" marL="0" rtl="0" algn="just">
              <a:lnSpc>
                <a:spcPct val="115000"/>
              </a:lnSpc>
              <a:spcBef>
                <a:spcPts val="1200"/>
              </a:spcBef>
              <a:spcAft>
                <a:spcPts val="0"/>
              </a:spcAft>
              <a:buNone/>
            </a:pPr>
            <a:r>
              <a:rPr lang="el-GR" sz="5600"/>
              <a:t>-Το LSTM παρουσίασε πολύ χαμηλό inference time (περίπου 0.001s) και στα δύο horizons, διατηρώντας παράλληλα σταθερή και ικανοποιητική ακρίβεια πρόβλεψης.</a:t>
            </a:r>
            <a:endParaRPr sz="5600"/>
          </a:p>
          <a:p>
            <a:pPr indent="0" lvl="0" marL="0" rtl="0" algn="just">
              <a:lnSpc>
                <a:spcPct val="115000"/>
              </a:lnSpc>
              <a:spcBef>
                <a:spcPts val="1200"/>
              </a:spcBef>
              <a:spcAft>
                <a:spcPts val="0"/>
              </a:spcAft>
              <a:buNone/>
            </a:pPr>
            <a:r>
              <a:rPr lang="el-GR" sz="5600"/>
              <a:t>-Το GRU πέτυχε την καλύτερη συνολική ακρίβεια, ιδιαίτερα στον short horizon, με επίσης πολύ μικρό inference time για H=5.</a:t>
            </a:r>
            <a:endParaRPr sz="5600"/>
          </a:p>
          <a:p>
            <a:pPr indent="0" lvl="0" marL="0" rtl="0" algn="just">
              <a:lnSpc>
                <a:spcPct val="115000"/>
              </a:lnSpc>
              <a:spcBef>
                <a:spcPts val="1200"/>
              </a:spcBef>
              <a:spcAft>
                <a:spcPts val="0"/>
              </a:spcAft>
              <a:buNone/>
            </a:pPr>
            <a:r>
              <a:rPr lang="el-GR" sz="5600"/>
              <a:t>-Στον long horizon (H=10), το inference time του GRU αυξήθηκε αισθητά (περίπου 0.025s), γεγονός που δείχνει μεγαλύτερο υπολογιστικό κόστος για πιο μακροπρόθεσμες προβλέψεις.</a:t>
            </a:r>
            <a:endParaRPr sz="5600"/>
          </a:p>
          <a:p>
            <a:pPr indent="0" lvl="0" marL="0" rtl="0" algn="just">
              <a:lnSpc>
                <a:spcPct val="115000"/>
              </a:lnSpc>
              <a:spcBef>
                <a:spcPts val="1200"/>
              </a:spcBef>
              <a:spcAft>
                <a:spcPts val="0"/>
              </a:spcAft>
              <a:buNone/>
            </a:pPr>
            <a:r>
              <a:rPr lang="el-GR" sz="5600"/>
              <a:t>-Το Transformers είχε εμφανώς μεγαλύτερο </a:t>
            </a:r>
            <a:r>
              <a:rPr lang="el-GR" sz="5600"/>
              <a:t>inference time σε σχέση με τα άλλα μοντέλα.</a:t>
            </a:r>
            <a:endParaRPr sz="5600"/>
          </a:p>
          <a:p>
            <a:pPr indent="0" lvl="0" marL="0" rtl="0" algn="just">
              <a:lnSpc>
                <a:spcPct val="115000"/>
              </a:lnSpc>
              <a:spcBef>
                <a:spcPts val="1200"/>
              </a:spcBef>
              <a:spcAft>
                <a:spcPts val="0"/>
              </a:spcAft>
              <a:buNone/>
            </a:pPr>
            <a:r>
              <a:t/>
            </a:r>
            <a:endParaRPr sz="4800"/>
          </a:p>
          <a:p>
            <a:pPr indent="0" lvl="0" marL="0" rtl="0" algn="just">
              <a:lnSpc>
                <a:spcPct val="115000"/>
              </a:lnSpc>
              <a:spcBef>
                <a:spcPts val="1200"/>
              </a:spcBef>
              <a:spcAft>
                <a:spcPts val="0"/>
              </a:spcAft>
              <a:buNone/>
            </a:pPr>
            <a:r>
              <a:t/>
            </a:r>
            <a:endParaRPr sz="1700"/>
          </a:p>
          <a:p>
            <a:pPr indent="0" lvl="0" marL="0" rtl="0" algn="just">
              <a:lnSpc>
                <a:spcPct val="115000"/>
              </a:lnSpc>
              <a:spcBef>
                <a:spcPts val="1200"/>
              </a:spcBef>
              <a:spcAft>
                <a:spcPts val="0"/>
              </a:spcAft>
              <a:buNone/>
            </a:pPr>
            <a:r>
              <a:t/>
            </a:r>
            <a:endParaRPr sz="2000"/>
          </a:p>
          <a:p>
            <a:pPr indent="0" lvl="0" marL="0" rtl="0" algn="just">
              <a:lnSpc>
                <a:spcPct val="115000"/>
              </a:lnSpc>
              <a:spcBef>
                <a:spcPts val="1200"/>
              </a:spcBef>
              <a:spcAft>
                <a:spcPts val="0"/>
              </a:spcAft>
              <a:buNone/>
            </a:pPr>
            <a:r>
              <a:t/>
            </a:r>
            <a:endParaRPr sz="2000"/>
          </a:p>
          <a:p>
            <a:pPr indent="0" lvl="0" marL="0" rtl="0" algn="l">
              <a:spcBef>
                <a:spcPts val="1200"/>
              </a:spcBef>
              <a:spcAft>
                <a:spcPts val="200"/>
              </a:spcAft>
              <a:buNone/>
            </a:pPr>
            <a:r>
              <a:t/>
            </a:r>
            <a:endParaRPr/>
          </a:p>
        </p:txBody>
      </p:sp>
      <p:graphicFrame>
        <p:nvGraphicFramePr>
          <p:cNvPr id="296" name="Google Shape;296;g3e28abe5f8d_5_11"/>
          <p:cNvGraphicFramePr/>
          <p:nvPr/>
        </p:nvGraphicFramePr>
        <p:xfrm>
          <a:off x="780975" y="2315950"/>
          <a:ext cx="3000000" cy="3000000"/>
        </p:xfrm>
        <a:graphic>
          <a:graphicData uri="http://schemas.openxmlformats.org/drawingml/2006/table">
            <a:tbl>
              <a:tblPr>
                <a:noFill/>
                <a:tableStyleId>{5A491AD2-6B3D-4428-A2BC-5B2185DF4C95}</a:tableStyleId>
              </a:tblPr>
              <a:tblGrid>
                <a:gridCol w="1776100"/>
                <a:gridCol w="1776100"/>
                <a:gridCol w="1776100"/>
              </a:tblGrid>
              <a:tr h="512575">
                <a:tc>
                  <a:txBody>
                    <a:bodyPr/>
                    <a:lstStyle/>
                    <a:p>
                      <a:pPr indent="0" lvl="0" marL="0" rtl="0" algn="l">
                        <a:spcBef>
                          <a:spcPts val="0"/>
                        </a:spcBef>
                        <a:spcAft>
                          <a:spcPts val="0"/>
                        </a:spcAft>
                        <a:buNone/>
                      </a:pPr>
                      <a:r>
                        <a:rPr b="1" lang="el-GR"/>
                        <a:t>Model</a:t>
                      </a:r>
                      <a:endParaRPr b="1"/>
                    </a:p>
                  </a:txBody>
                  <a:tcPr marT="91425" marB="91425" marR="91425" marL="91425"/>
                </a:tc>
                <a:tc>
                  <a:txBody>
                    <a:bodyPr/>
                    <a:lstStyle/>
                    <a:p>
                      <a:pPr indent="0" lvl="0" marL="0" rtl="0" algn="l">
                        <a:spcBef>
                          <a:spcPts val="0"/>
                        </a:spcBef>
                        <a:spcAft>
                          <a:spcPts val="0"/>
                        </a:spcAft>
                        <a:buNone/>
                      </a:pPr>
                      <a:r>
                        <a:rPr b="1" lang="el-GR"/>
                        <a:t>Horizon</a:t>
                      </a:r>
                      <a:endParaRPr b="1"/>
                    </a:p>
                  </a:txBody>
                  <a:tcPr marT="91425" marB="91425" marR="91425" marL="91425"/>
                </a:tc>
                <a:tc>
                  <a:txBody>
                    <a:bodyPr/>
                    <a:lstStyle/>
                    <a:p>
                      <a:pPr indent="0" lvl="0" marL="0" rtl="0" algn="l">
                        <a:spcBef>
                          <a:spcPts val="0"/>
                        </a:spcBef>
                        <a:spcAft>
                          <a:spcPts val="0"/>
                        </a:spcAft>
                        <a:buNone/>
                      </a:pPr>
                      <a:r>
                        <a:rPr b="1" lang="el-GR"/>
                        <a:t>Ιnference time(s)</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0.001010</a:t>
                      </a:r>
                      <a:endParaRPr b="1"/>
                    </a:p>
                  </a:txBody>
                  <a:tcPr marT="91425" marB="91425" marR="91425" marL="91425"/>
                </a:tc>
              </a:tr>
              <a:tr h="512575">
                <a:tc>
                  <a:txBody>
                    <a:bodyPr/>
                    <a:lstStyle/>
                    <a:p>
                      <a:pPr indent="0" lvl="0" marL="0" rtl="0" algn="l">
                        <a:spcBef>
                          <a:spcPts val="0"/>
                        </a:spcBef>
                        <a:spcAft>
                          <a:spcPts val="0"/>
                        </a:spcAft>
                        <a:buNone/>
                      </a:pPr>
                      <a:r>
                        <a:rPr b="1" lang="el-GR"/>
                        <a:t>LSTM</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t>0.000942</a:t>
                      </a:r>
                      <a:endParaRPr b="1"/>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0.016376</a:t>
                      </a:r>
                      <a:endParaRPr/>
                    </a:p>
                  </a:txBody>
                  <a:tcPr marT="91425" marB="91425" marR="91425" marL="91425"/>
                </a:tc>
              </a:tr>
              <a:tr h="512575">
                <a:tc>
                  <a:txBody>
                    <a:bodyPr/>
                    <a:lstStyle/>
                    <a:p>
                      <a:pPr indent="0" lvl="0" marL="0" rtl="0" algn="l">
                        <a:spcBef>
                          <a:spcPts val="0"/>
                        </a:spcBef>
                        <a:spcAft>
                          <a:spcPts val="0"/>
                        </a:spcAft>
                        <a:buNone/>
                      </a:pPr>
                      <a:r>
                        <a:rPr b="1" lang="el-GR"/>
                        <a:t>GRU</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0.025077</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Short</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1.981681</a:t>
                      </a:r>
                      <a:endParaRPr/>
                    </a:p>
                  </a:txBody>
                  <a:tcPr marT="91425" marB="91425" marR="91425" marL="91425"/>
                </a:tc>
              </a:tr>
              <a:tr h="512575">
                <a:tc>
                  <a:txBody>
                    <a:bodyPr/>
                    <a:lstStyle/>
                    <a:p>
                      <a:pPr indent="0" lvl="0" marL="0" rtl="0" algn="l">
                        <a:spcBef>
                          <a:spcPts val="0"/>
                        </a:spcBef>
                        <a:spcAft>
                          <a:spcPts val="0"/>
                        </a:spcAft>
                        <a:buNone/>
                      </a:pPr>
                      <a:r>
                        <a:rPr b="1" lang="el-GR"/>
                        <a:t>Transformers</a:t>
                      </a:r>
                      <a:endParaRPr b="1"/>
                    </a:p>
                  </a:txBody>
                  <a:tcPr marT="91425" marB="91425" marR="91425" marL="91425"/>
                </a:tc>
                <a:tc>
                  <a:txBody>
                    <a:bodyPr/>
                    <a:lstStyle/>
                    <a:p>
                      <a:pPr indent="0" lvl="0" marL="0" rtl="0" algn="l">
                        <a:spcBef>
                          <a:spcPts val="0"/>
                        </a:spcBef>
                        <a:spcAft>
                          <a:spcPts val="0"/>
                        </a:spcAft>
                        <a:buNone/>
                      </a:pPr>
                      <a:r>
                        <a:rPr b="1" lang="el-GR"/>
                        <a:t>Long</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l-GR">
                          <a:solidFill>
                            <a:schemeClr val="dk1"/>
                          </a:solidFill>
                        </a:rPr>
                        <a:t>2.468906</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4"/>
          <p:cNvSpPr txBox="1"/>
          <p:nvPr>
            <p:ph type="title"/>
          </p:nvPr>
        </p:nvSpPr>
        <p:spPr>
          <a:xfrm>
            <a:off x="1024125" y="881050"/>
            <a:ext cx="9099600" cy="8736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sz="4400"/>
              <a:t>Το github repository της εργασίας</a:t>
            </a:r>
            <a:endParaRPr sz="4400"/>
          </a:p>
        </p:txBody>
      </p:sp>
      <p:sp>
        <p:nvSpPr>
          <p:cNvPr id="302" name="Google Shape;302;p14"/>
          <p:cNvSpPr txBox="1"/>
          <p:nvPr>
            <p:ph idx="1" type="body"/>
          </p:nvPr>
        </p:nvSpPr>
        <p:spPr>
          <a:xfrm>
            <a:off x="614625" y="2787750"/>
            <a:ext cx="3936600" cy="1588200"/>
          </a:xfrm>
          <a:prstGeom prst="rect">
            <a:avLst/>
          </a:prstGeom>
          <a:noFill/>
          <a:ln>
            <a:noFill/>
          </a:ln>
        </p:spPr>
        <p:txBody>
          <a:bodyPr anchorCtr="0" anchor="t" bIns="45700" lIns="45700" spcFirstLastPara="1" rIns="45700" wrap="square" tIns="45700">
            <a:normAutofit fontScale="25000" lnSpcReduction="20000"/>
          </a:bodyPr>
          <a:lstStyle/>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34925" lvl="0" marL="91440" rtl="0" algn="l">
              <a:lnSpc>
                <a:spcPct val="90000"/>
              </a:lnSpc>
              <a:spcBef>
                <a:spcPts val="0"/>
              </a:spcBef>
              <a:spcAft>
                <a:spcPts val="0"/>
              </a:spcAft>
              <a:buSzPct val="100000"/>
              <a:buChar char=" "/>
            </a:pPr>
            <a:r>
              <a:t/>
            </a:r>
            <a:endParaRPr/>
          </a:p>
          <a:p>
            <a:pPr indent="0" lvl="0" marL="91440" rtl="0" algn="just">
              <a:lnSpc>
                <a:spcPct val="90000"/>
              </a:lnSpc>
              <a:spcBef>
                <a:spcPts val="0"/>
              </a:spcBef>
              <a:spcAft>
                <a:spcPts val="0"/>
              </a:spcAft>
              <a:buNone/>
            </a:pPr>
            <a:r>
              <a:rPr lang="el-GR" sz="10081"/>
              <a:t>Το repository της εργασίας με τον κώδικα των μοντέλων και την προεπεξεργασία των δεδομένων.</a:t>
            </a:r>
            <a:endParaRPr sz="10081"/>
          </a:p>
        </p:txBody>
      </p:sp>
      <p:pic>
        <p:nvPicPr>
          <p:cNvPr id="303" name="Google Shape;303;p14"/>
          <p:cNvPicPr preferRelativeResize="0"/>
          <p:nvPr/>
        </p:nvPicPr>
        <p:blipFill>
          <a:blip r:embed="rId3">
            <a:alphaModFix/>
          </a:blip>
          <a:stretch>
            <a:fillRect/>
          </a:stretch>
        </p:blipFill>
        <p:spPr>
          <a:xfrm>
            <a:off x="5082650" y="1986200"/>
            <a:ext cx="6118349" cy="4145826"/>
          </a:xfrm>
          <a:prstGeom prst="rect">
            <a:avLst/>
          </a:prstGeom>
          <a:noFill/>
          <a:ln>
            <a:noFill/>
          </a:ln>
        </p:spPr>
      </p:pic>
      <p:sp>
        <p:nvSpPr>
          <p:cNvPr id="304" name="Google Shape;304;p14">
            <a:hlinkClick r:id="rId4"/>
          </p:cNvPr>
          <p:cNvSpPr/>
          <p:nvPr/>
        </p:nvSpPr>
        <p:spPr>
          <a:xfrm>
            <a:off x="614625" y="4643425"/>
            <a:ext cx="3791100" cy="534300"/>
          </a:xfrm>
          <a:prstGeom prst="roundRect">
            <a:avLst>
              <a:gd fmla="val 50000" name="adj"/>
            </a:avLst>
          </a:prstGeom>
          <a:solidFill>
            <a:srgbClr val="8E7CC3"/>
          </a:solid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b="1" lang="el-GR" sz="2200">
                <a:solidFill>
                  <a:srgbClr val="D5A6BD"/>
                </a:solidFill>
                <a:latin typeface="Calibri"/>
                <a:ea typeface="Calibri"/>
                <a:cs typeface="Calibri"/>
                <a:sym typeface="Calibri"/>
              </a:rPr>
              <a:t>Tο link του  repository</a:t>
            </a:r>
            <a:endParaRPr b="1" sz="2200">
              <a:solidFill>
                <a:srgbClr val="D5A6BD"/>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Calibri"/>
              <a:buNone/>
            </a:pPr>
            <a:r>
              <a:rPr lang="el-GR"/>
              <a:t>Βιβλιογραφία</a:t>
            </a:r>
            <a:endParaRPr/>
          </a:p>
        </p:txBody>
      </p:sp>
      <p:sp>
        <p:nvSpPr>
          <p:cNvPr id="310" name="Google Shape;310;p15"/>
          <p:cNvSpPr txBox="1"/>
          <p:nvPr>
            <p:ph idx="1" type="body"/>
          </p:nvPr>
        </p:nvSpPr>
        <p:spPr>
          <a:xfrm>
            <a:off x="728100" y="2084825"/>
            <a:ext cx="10016100" cy="3926100"/>
          </a:xfrm>
          <a:prstGeom prst="rect">
            <a:avLst/>
          </a:prstGeom>
          <a:noFill/>
          <a:ln>
            <a:noFill/>
          </a:ln>
        </p:spPr>
        <p:txBody>
          <a:bodyPr anchorCtr="0" anchor="t" bIns="45700" lIns="45700" spcFirstLastPara="1" rIns="45700" wrap="square" tIns="45700">
            <a:noAutofit/>
          </a:bodyPr>
          <a:lstStyle/>
          <a:p>
            <a:pPr indent="0" lvl="0" marL="0" rtl="0" algn="l">
              <a:lnSpc>
                <a:spcPct val="70000"/>
              </a:lnSpc>
              <a:spcBef>
                <a:spcPts val="0"/>
              </a:spcBef>
              <a:spcAft>
                <a:spcPts val="0"/>
              </a:spcAft>
              <a:buNone/>
            </a:pPr>
            <a:r>
              <a:rPr lang="el-GR" sz="1545"/>
              <a:t>-</a:t>
            </a:r>
            <a:r>
              <a:rPr lang="el-GR" sz="1545"/>
              <a:t>htt</a:t>
            </a:r>
            <a:r>
              <a:rPr lang="el-GR" sz="1645"/>
              <a:t>ps://www.geeksforgeeks.org/deep-learning/introduction-deep-learning/</a:t>
            </a:r>
            <a:endParaRPr sz="1645"/>
          </a:p>
          <a:p>
            <a:pPr indent="0" lvl="0" marL="0" rtl="0" algn="l">
              <a:lnSpc>
                <a:spcPct val="70000"/>
              </a:lnSpc>
              <a:spcBef>
                <a:spcPts val="1400"/>
              </a:spcBef>
              <a:spcAft>
                <a:spcPts val="0"/>
              </a:spcAft>
              <a:buNone/>
            </a:pPr>
            <a:r>
              <a:rPr lang="el-GR" sz="1645"/>
              <a:t>-https://www.geeksforgeeks.org/machine-learning/time-series-analysis-and-forecasting/</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3"/>
              </a:rPr>
              <a:t>https://www.tensorflow.org/guide/keras/training_with_built_in_methods</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4"/>
              </a:rPr>
              <a:t>https://youtu.be/_kp19PIVuXc?si=P-ac59BgloZep-a8</a:t>
            </a:r>
            <a:r>
              <a:rPr lang="el-GR" sz="1645"/>
              <a:t>,https://encord.com/blog/train-val-test-split</a:t>
            </a:r>
            <a:endParaRPr sz="1645"/>
          </a:p>
          <a:p>
            <a:pPr indent="0" lvl="0" marL="0" rtl="0" algn="l">
              <a:lnSpc>
                <a:spcPct val="70000"/>
              </a:lnSpc>
              <a:spcBef>
                <a:spcPts val="1400"/>
              </a:spcBef>
              <a:spcAft>
                <a:spcPts val="0"/>
              </a:spcAft>
              <a:buNone/>
            </a:pPr>
            <a:r>
              <a:rPr lang="el-GR" sz="1645"/>
              <a:t>-https://apxml.com/courses/rnns-and-sequence-modeling/chapter-7-implementing-lstm-gru/using-gru-layers</a:t>
            </a:r>
            <a:endParaRPr sz="1645"/>
          </a:p>
          <a:p>
            <a:pPr indent="0" lvl="0" marL="0" rtl="0" algn="l">
              <a:lnSpc>
                <a:spcPct val="70000"/>
              </a:lnSpc>
              <a:spcBef>
                <a:spcPts val="1400"/>
              </a:spcBef>
              <a:spcAft>
                <a:spcPts val="0"/>
              </a:spcAft>
              <a:buNone/>
            </a:pPr>
            <a:r>
              <a:rPr lang="el-GR" sz="1645"/>
              <a:t>-https://www.lightly.ai/blog/train-test-validation-split(test,train, split data)</a:t>
            </a:r>
            <a:endParaRPr sz="1645"/>
          </a:p>
          <a:p>
            <a:pPr indent="0" lvl="0" marL="0" rtl="0" algn="l">
              <a:lnSpc>
                <a:spcPct val="70000"/>
              </a:lnSpc>
              <a:spcBef>
                <a:spcPts val="1400"/>
              </a:spcBef>
              <a:spcAft>
                <a:spcPts val="0"/>
              </a:spcAft>
              <a:buNone/>
            </a:pPr>
            <a:r>
              <a:rPr lang="el-GR" sz="1645"/>
              <a:t>-</a:t>
            </a:r>
            <a:r>
              <a:rPr lang="el-GR" sz="1645" u="sng">
                <a:solidFill>
                  <a:schemeClr val="hlink"/>
                </a:solidFill>
                <a:hlinkClick r:id="rId5"/>
              </a:rPr>
              <a:t>https://www.geeksforgeeks.org/deep-learning/transformer-model-from-scratch-using-tensorflow/</a:t>
            </a:r>
            <a:endParaRPr sz="1645"/>
          </a:p>
          <a:p>
            <a:pPr indent="0" lvl="0" marL="0" rtl="0" algn="l">
              <a:lnSpc>
                <a:spcPct val="70000"/>
              </a:lnSpc>
              <a:spcBef>
                <a:spcPts val="1400"/>
              </a:spcBef>
              <a:spcAft>
                <a:spcPts val="0"/>
              </a:spcAft>
              <a:buNone/>
            </a:pPr>
            <a:r>
              <a:rPr lang="el-GR" sz="1645"/>
              <a:t>-https://ml-tutorials.readthedocs.io/en/latest/auto_examples/lstm_tensorflow_scratch.html</a:t>
            </a:r>
            <a:endParaRPr sz="1645"/>
          </a:p>
          <a:p>
            <a:pPr indent="0" lvl="0" marL="0" rtl="0" algn="l">
              <a:lnSpc>
                <a:spcPct val="70000"/>
              </a:lnSpc>
              <a:spcBef>
                <a:spcPts val="1400"/>
              </a:spcBef>
              <a:spcAft>
                <a:spcPts val="0"/>
              </a:spcAft>
              <a:buNone/>
            </a:pPr>
            <a:r>
              <a:rPr lang="el-GR" sz="1645"/>
              <a:t>-https://www.geeksforgeeks.org/machine-learning/getting-started-with-transformers/</a:t>
            </a:r>
            <a:endParaRPr sz="1645"/>
          </a:p>
          <a:p>
            <a:pPr indent="0" lvl="0" marL="0" rtl="0" algn="l">
              <a:lnSpc>
                <a:spcPct val="70000"/>
              </a:lnSpc>
              <a:spcBef>
                <a:spcPts val="1400"/>
              </a:spcBef>
              <a:spcAft>
                <a:spcPts val="0"/>
              </a:spcAft>
              <a:buNone/>
            </a:pPr>
            <a:r>
              <a:rPr lang="el-GR" sz="1645"/>
              <a:t>-https://www.tensorflow.org/api_docs/python/tfm/nlp/models/TransformerEncoder</a:t>
            </a:r>
            <a:endParaRPr sz="1645"/>
          </a:p>
          <a:p>
            <a:pPr indent="0" lvl="0" marL="0" rtl="0" algn="l">
              <a:lnSpc>
                <a:spcPct val="70000"/>
              </a:lnSpc>
              <a:spcBef>
                <a:spcPts val="1400"/>
              </a:spcBef>
              <a:spcAft>
                <a:spcPts val="0"/>
              </a:spcAft>
              <a:buNone/>
            </a:pPr>
            <a:r>
              <a:rPr lang="el-GR" sz="1645"/>
              <a:t>-https://machinelearningmastery.com/adam-optimization-algorithm-for-deep-learning/</a:t>
            </a:r>
            <a:endParaRPr sz="1645"/>
          </a:p>
          <a:p>
            <a:pPr indent="0" lvl="0" marL="91440" rtl="0" algn="l">
              <a:lnSpc>
                <a:spcPct val="70000"/>
              </a:lnSpc>
              <a:spcBef>
                <a:spcPts val="1400"/>
              </a:spcBef>
              <a:spcAft>
                <a:spcPts val="0"/>
              </a:spcAft>
              <a:buSzPts val="523"/>
              <a:buNone/>
            </a:pPr>
            <a:r>
              <a:t/>
            </a:r>
            <a:endParaRPr sz="104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EF9"/>
        </a:solidFill>
      </p:bgPr>
    </p:bg>
    <p:spTree>
      <p:nvGrpSpPr>
        <p:cNvPr id="314" name="Shape 314"/>
        <p:cNvGrpSpPr/>
        <p:nvPr/>
      </p:nvGrpSpPr>
      <p:grpSpPr>
        <a:xfrm>
          <a:off x="0" y="0"/>
          <a:ext cx="0" cy="0"/>
          <a:chOff x="0" y="0"/>
          <a:chExt cx="0" cy="0"/>
        </a:xfrm>
      </p:grpSpPr>
      <p:sp>
        <p:nvSpPr>
          <p:cNvPr id="315" name="Google Shape;315;p16"/>
          <p:cNvSpPr txBox="1"/>
          <p:nvPr/>
        </p:nvSpPr>
        <p:spPr>
          <a:xfrm>
            <a:off x="3547489" y="1898275"/>
            <a:ext cx="4572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l-GR" sz="3600">
                <a:solidFill>
                  <a:schemeClr val="dk1"/>
                </a:solidFill>
                <a:latin typeface="Twentieth Century"/>
                <a:ea typeface="Twentieth Century"/>
                <a:cs typeface="Twentieth Century"/>
                <a:sym typeface="Twentieth Century"/>
              </a:rPr>
              <a:t>ΕΥΧΑΡΙΣΤΟΥΜΕ</a:t>
            </a:r>
            <a:endParaRPr/>
          </a:p>
        </p:txBody>
      </p:sp>
      <p:sp>
        <p:nvSpPr>
          <p:cNvPr id="316" name="Google Shape;316;p16"/>
          <p:cNvSpPr txBox="1"/>
          <p:nvPr/>
        </p:nvSpPr>
        <p:spPr>
          <a:xfrm>
            <a:off x="3605250" y="3566200"/>
            <a:ext cx="4456500" cy="56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GR" sz="2200">
                <a:solidFill>
                  <a:schemeClr val="dk1"/>
                </a:solidFill>
                <a:latin typeface="Calibri"/>
                <a:ea typeface="Calibri"/>
                <a:cs typeface="Calibri"/>
                <a:sym typeface="Calibri"/>
              </a:rPr>
              <a:t>ΕΡΩΤΗΣΕΙΣ,ΑΠΟΡΙΕΣ,ΣΥΖΗΤΗΣΗ…</a:t>
            </a:r>
            <a:endParaRPr b="1" sz="2200">
              <a:solidFill>
                <a:schemeClr val="dk1"/>
              </a:solidFill>
              <a:latin typeface="Calibri"/>
              <a:ea typeface="Calibri"/>
              <a:cs typeface="Calibri"/>
              <a:sym typeface="Calibri"/>
            </a:endParaRPr>
          </a:p>
        </p:txBody>
      </p:sp>
      <p:sp>
        <p:nvSpPr>
          <p:cNvPr id="317" name="Google Shape;317;p16"/>
          <p:cNvSpPr txBox="1"/>
          <p:nvPr/>
        </p:nvSpPr>
        <p:spPr>
          <a:xfrm>
            <a:off x="8061750" y="48135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GR" sz="1800">
                <a:solidFill>
                  <a:schemeClr val="dk1"/>
                </a:solidFill>
                <a:latin typeface="Calibri"/>
                <a:ea typeface="Calibri"/>
                <a:cs typeface="Calibri"/>
                <a:sym typeface="Calibri"/>
              </a:rPr>
              <a:t>Έλενα Βίτσιου</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l-GR" sz="1800">
                <a:solidFill>
                  <a:schemeClr val="dk1"/>
                </a:solidFill>
                <a:latin typeface="Calibri"/>
                <a:ea typeface="Calibri"/>
                <a:cs typeface="Calibri"/>
                <a:sym typeface="Calibri"/>
              </a:rPr>
              <a:t>Γεωργία Μυλωνά</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Ολοκλήρωμα">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2026-03-27T16:25:58Z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