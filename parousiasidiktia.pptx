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56" r:id="rId5"/>
    <p:sldId id="277" r:id="rId6"/>
    <p:sldId id="281" r:id="rId7"/>
    <p:sldId id="278" r:id="rId8"/>
    <p:sldId id="279" r:id="rId9"/>
    <p:sldId id="280" r:id="rId10"/>
    <p:sldId id="282" r:id="rId11"/>
    <p:sldId id="283" r:id="rId12"/>
    <p:sldId id="285" r:id="rId13"/>
    <p:sldId id="284" r:id="rId14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6395" autoAdjust="0"/>
  </p:normalViewPr>
  <p:slideViewPr>
    <p:cSldViewPr snapToGrid="0">
      <p:cViewPr varScale="1">
        <p:scale>
          <a:sx n="85" d="100"/>
          <a:sy n="85" d="100"/>
        </p:scale>
        <p:origin x="54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29/3/2026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29/3/2026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/>
              <a:t>Κάντε κλικ για να επεξεργαστείτε τον υπότιτλο του υποδείγματος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29/3/2026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29/3/2026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29/3/2026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29/3/2026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29/3/2026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29/3/2026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29/3/2026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29/3/2026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29/3/2026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29/3/2026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29/3/2026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29/3/2026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/>
          </a:bodyPr>
          <a:lstStyle/>
          <a:p>
            <a:pPr algn="just"/>
            <a:r>
              <a:rPr lang="el-GR" sz="4000" b="1" dirty="0">
                <a:solidFill>
                  <a:srgbClr val="FFFFFF"/>
                </a:solidFill>
              </a:rPr>
              <a:t>ΠΡΟΒΛΕΨΗ ΧΡΗΣΗΣ ΠΟΡΩΝ ΣΤΟ </a:t>
            </a:r>
            <a:r>
              <a:rPr lang="en-US" sz="4000" b="1" dirty="0">
                <a:solidFill>
                  <a:srgbClr val="FFFFFF"/>
                </a:solidFill>
              </a:rPr>
              <a:t>ALIBABA CLUSTER SET</a:t>
            </a:r>
            <a:endParaRPr lang="el-GR" sz="4000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501650" cy="514816"/>
          </a:xfrm>
        </p:spPr>
        <p:txBody>
          <a:bodyPr rtlCol="0" anchor="t">
            <a:normAutofit fontScale="85000" lnSpcReduction="20000"/>
          </a:bodyPr>
          <a:lstStyle/>
          <a:p>
            <a:pPr rtl="0"/>
            <a:r>
              <a:rPr lang="el-GR" dirty="0">
                <a:solidFill>
                  <a:srgbClr val="FFFFFF"/>
                </a:solidFill>
              </a:rPr>
              <a:t>Έλενα Βίτσιου,1100502</a:t>
            </a:r>
          </a:p>
          <a:p>
            <a:pPr rtl="0"/>
            <a:r>
              <a:rPr lang="el-GR" dirty="0">
                <a:solidFill>
                  <a:srgbClr val="FFFFFF"/>
                </a:solidFill>
              </a:rPr>
              <a:t>Γεωργία Μυλωνά,1104783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dirty="0"/>
              <a:t>Στόχος Εργασίας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8B687F0-5495-459D-A6BB-5B2D80A95A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el-GR" dirty="0"/>
              <a:t>Η εργασία αποσκοπεί στην πρόβλεψη της χρήσης πόρων σε </a:t>
            </a:r>
            <a:r>
              <a:rPr lang="en-US" dirty="0"/>
              <a:t>b</a:t>
            </a:r>
            <a:r>
              <a:rPr lang="el-GR" dirty="0" err="1"/>
              <a:t>are</a:t>
            </a:r>
            <a:r>
              <a:rPr lang="el-GR" dirty="0"/>
              <a:t> </a:t>
            </a:r>
            <a:r>
              <a:rPr lang="el-GR" dirty="0" err="1"/>
              <a:t>metal</a:t>
            </a:r>
            <a:r>
              <a:rPr lang="el-GR" dirty="0"/>
              <a:t> </a:t>
            </a:r>
            <a:r>
              <a:rPr lang="el-GR" dirty="0" err="1"/>
              <a:t>nodes</a:t>
            </a:r>
            <a:r>
              <a:rPr lang="el-GR" dirty="0"/>
              <a:t>, χρησιμοποιώντας </a:t>
            </a:r>
            <a:r>
              <a:rPr lang="el-GR" dirty="0" err="1"/>
              <a:t>time</a:t>
            </a:r>
            <a:r>
              <a:rPr lang="el-GR" dirty="0"/>
              <a:t> </a:t>
            </a:r>
            <a:r>
              <a:rPr lang="el-GR" dirty="0" err="1"/>
              <a:t>series</a:t>
            </a:r>
            <a:r>
              <a:rPr lang="el-GR" dirty="0"/>
              <a:t> </a:t>
            </a:r>
            <a:r>
              <a:rPr lang="el-GR" dirty="0" err="1"/>
              <a:t>data</a:t>
            </a:r>
            <a:r>
              <a:rPr lang="el-GR" dirty="0"/>
              <a:t> από CPU και RAM. </a:t>
            </a:r>
            <a:endParaRPr lang="en-US" dirty="0"/>
          </a:p>
          <a:p>
            <a:pPr algn="just">
              <a:buFont typeface="Wingdings" panose="05000000000000000000" pitchFamily="2" charset="2"/>
              <a:buChar char="§"/>
            </a:pPr>
            <a:r>
              <a:rPr lang="el-GR" dirty="0"/>
              <a:t>Σκοπός της παρόν εργασίας είναι η κατασκευή, η εκπαίδευση και ο έλεγχος (</a:t>
            </a:r>
            <a:r>
              <a:rPr lang="el-GR" dirty="0" err="1"/>
              <a:t>testing</a:t>
            </a:r>
            <a:r>
              <a:rPr lang="el-GR" dirty="0"/>
              <a:t>) μοντέλων πρόβλεψης για </a:t>
            </a:r>
            <a:r>
              <a:rPr lang="el-GR" dirty="0" err="1"/>
              <a:t>χρονοσειρές</a:t>
            </a:r>
            <a:r>
              <a:rPr lang="el-GR" dirty="0"/>
              <a:t> τόσο για μικρά όσο και μεγάλα διαστήματά (</a:t>
            </a:r>
            <a:r>
              <a:rPr lang="el-GR" dirty="0" err="1"/>
              <a:t>short-term</a:t>
            </a:r>
            <a:r>
              <a:rPr lang="el-GR" dirty="0"/>
              <a:t>, </a:t>
            </a:r>
            <a:r>
              <a:rPr lang="el-GR" dirty="0" err="1"/>
              <a:t>long-term</a:t>
            </a:r>
            <a:r>
              <a:rPr lang="el-GR" dirty="0"/>
              <a:t> </a:t>
            </a:r>
            <a:r>
              <a:rPr lang="el-GR" dirty="0" err="1"/>
              <a:t>prediction</a:t>
            </a:r>
            <a:r>
              <a:rPr lang="el-GR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0EA9875D-160F-46FA-BDE3-529AFED16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/>
              <a:t>ΒΙΒΛΙΟΘΗΚΕΣ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E2052E99-8256-4CF8-B3FA-B6B0F1C9E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b="1" dirty="0" err="1"/>
              <a:t>Numpy</a:t>
            </a:r>
            <a:r>
              <a:rPr lang="en-US" dirty="0"/>
              <a:t> for working with arrays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Pandas</a:t>
            </a:r>
            <a:r>
              <a:rPr lang="en-US" dirty="0"/>
              <a:t> for working with relational or labeled data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/>
              <a:t>Matplotlib</a:t>
            </a:r>
            <a:r>
              <a:rPr lang="en-US" dirty="0"/>
              <a:t> for data visualization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 err="1"/>
              <a:t>DateTime</a:t>
            </a:r>
            <a:r>
              <a:rPr lang="en-US" dirty="0"/>
              <a:t> to work with data and time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 err="1"/>
              <a:t>MinMaxScaler</a:t>
            </a:r>
            <a:r>
              <a:rPr lang="en-US" dirty="0"/>
              <a:t> for normalization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 err="1"/>
              <a:t>PyTorch</a:t>
            </a:r>
            <a:r>
              <a:rPr lang="en-US" dirty="0"/>
              <a:t> to build the neural network for training </a:t>
            </a:r>
            <a:endParaRPr lang="el-GR" dirty="0"/>
          </a:p>
          <a:p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064187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Εικόνα 2">
            <a:extLst>
              <a:ext uri="{FF2B5EF4-FFF2-40B4-BE49-F238E27FC236}">
                <a16:creationId xmlns:a16="http://schemas.microsoft.com/office/drawing/2014/main" id="{05B6AA2D-A20D-45A1-8538-5CF4858DD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40" y="1819835"/>
            <a:ext cx="10935824" cy="4661647"/>
          </a:xfrm>
          <a:prstGeom prst="rect">
            <a:avLst/>
          </a:prstGeom>
          <a:effectLst>
            <a:outerShdw blurRad="50800" dist="50800" dir="5400000" sx="5000" sy="5000" algn="ctr" rotWithShape="0">
              <a:srgbClr val="000000">
                <a:alpha val="43137"/>
              </a:srgbClr>
            </a:outerShdw>
          </a:effectLst>
        </p:spPr>
      </p:pic>
      <p:sp>
        <p:nvSpPr>
          <p:cNvPr id="2" name="Τίτλος 1">
            <a:extLst>
              <a:ext uri="{FF2B5EF4-FFF2-40B4-BE49-F238E27FC236}">
                <a16:creationId xmlns:a16="http://schemas.microsoft.com/office/drawing/2014/main" id="{0C475809-3183-44E6-BD92-8173E857E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ΤΟ</a:t>
            </a:r>
            <a:r>
              <a:rPr lang="en-US"/>
              <a:t> ALIBABA CLUSTER</a:t>
            </a:r>
            <a:r>
              <a:rPr lang="el-GR"/>
              <a:t> </a:t>
            </a:r>
            <a:r>
              <a:rPr lang="en-US"/>
              <a:t>DATASET</a:t>
            </a:r>
            <a:endParaRPr lang="el-GR" dirty="0"/>
          </a:p>
        </p:txBody>
      </p:sp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44A640C9-B839-4B46-B4A1-EE4DDE9A0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273232" y="4365812"/>
            <a:ext cx="6203928" cy="1767033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pic>
        <p:nvPicPr>
          <p:cNvPr id="6" name="Εικόνα 5">
            <a:extLst>
              <a:ext uri="{FF2B5EF4-FFF2-40B4-BE49-F238E27FC236}">
                <a16:creationId xmlns:a16="http://schemas.microsoft.com/office/drawing/2014/main" id="{68A2FBFC-2F6B-4DE8-A259-217535BBB8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211909"/>
            <a:ext cx="3782458" cy="1382938"/>
          </a:xfrm>
          <a:prstGeom prst="rect">
            <a:avLst/>
          </a:prstGeom>
          <a:ln w="47625"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717926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6CC14BE-34A1-4F1C-97BF-ACAE7214F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Προεπεξεργασία</a:t>
            </a:r>
            <a:r>
              <a:rPr lang="en-US" dirty="0"/>
              <a:t>(1)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BAB85AA-ADCA-4ECF-A858-170C326FB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l-GR" dirty="0"/>
              <a:t>Αφαίρεση </a:t>
            </a:r>
            <a:r>
              <a:rPr lang="en-US" dirty="0"/>
              <a:t>duplicates</a:t>
            </a:r>
          </a:p>
          <a:p>
            <a:r>
              <a:rPr lang="en-US" dirty="0"/>
              <a:t>missing values</a:t>
            </a:r>
          </a:p>
          <a:p>
            <a:r>
              <a:rPr lang="en-US" dirty="0"/>
              <a:t> </a:t>
            </a:r>
            <a:r>
              <a:rPr lang="el-GR" dirty="0"/>
              <a:t>Αφαίρεση </a:t>
            </a:r>
            <a:r>
              <a:rPr lang="en-US" dirty="0"/>
              <a:t>outliers (IQR)</a:t>
            </a:r>
          </a:p>
          <a:p>
            <a:r>
              <a:rPr lang="en-US" dirty="0"/>
              <a:t> </a:t>
            </a:r>
            <a:r>
              <a:rPr lang="el-GR" dirty="0" err="1"/>
              <a:t>Κανονικοποίηση</a:t>
            </a:r>
            <a:r>
              <a:rPr lang="el-GR" dirty="0"/>
              <a:t> [0,1]</a:t>
            </a:r>
          </a:p>
          <a:p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890351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8923C52-A216-4F3C-93C2-54C7753EA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Προεπεξεργασία</a:t>
            </a:r>
            <a:r>
              <a:rPr lang="en-US" dirty="0"/>
              <a:t>(2)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BE12BDC-C1D5-49BE-ACFF-00E2E3AB1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l-GR" dirty="0" err="1"/>
              <a:t>Οπτικοποίηση</a:t>
            </a:r>
            <a:r>
              <a:rPr lang="en-US" dirty="0"/>
              <a:t>,</a:t>
            </a:r>
            <a:r>
              <a:rPr lang="el-GR" dirty="0"/>
              <a:t> Αποσύνθεση </a:t>
            </a:r>
            <a:r>
              <a:rPr lang="el-GR" dirty="0" err="1"/>
              <a:t>Χρονοσειράς</a:t>
            </a:r>
            <a:r>
              <a:rPr lang="en-US" dirty="0"/>
              <a:t>,  Trend</a:t>
            </a:r>
          </a:p>
          <a:p>
            <a:r>
              <a:rPr lang="en-US" dirty="0"/>
              <a:t> Seasonality</a:t>
            </a:r>
          </a:p>
          <a:p>
            <a:r>
              <a:rPr lang="en-US" dirty="0"/>
              <a:t> Residual</a:t>
            </a:r>
          </a:p>
          <a:p>
            <a:r>
              <a:rPr lang="en-US" dirty="0"/>
              <a:t> </a:t>
            </a:r>
            <a:r>
              <a:rPr lang="el-GR" dirty="0"/>
              <a:t>Κατανόηση δομής δεδομένων</a:t>
            </a:r>
            <a:endParaRPr lang="en-US" dirty="0"/>
          </a:p>
          <a:p>
            <a:endParaRPr lang="en-US" dirty="0"/>
          </a:p>
          <a:p>
            <a:r>
              <a:rPr lang="en-US" dirty="0"/>
              <a:t>+</a:t>
            </a:r>
            <a:r>
              <a:rPr lang="el-GR" dirty="0"/>
              <a:t>Στατιστικά</a:t>
            </a:r>
          </a:p>
          <a:p>
            <a:endParaRPr lang="el-GR" dirty="0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1246D02A-3514-45D5-96EE-882ED9D84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7468" y="3765176"/>
            <a:ext cx="7994240" cy="224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492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718DFC3-34AC-4DEC-8EB8-A30B31F81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LSTM MODEL</a:t>
            </a:r>
            <a:endParaRPr lang="el-GR" dirty="0"/>
          </a:p>
        </p:txBody>
      </p:sp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37CCD86A-B033-432B-A9D4-E8E55E8D4F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8768" y="1751249"/>
            <a:ext cx="5979888" cy="2917801"/>
          </a:xfrm>
        </p:spPr>
      </p:pic>
      <p:pic>
        <p:nvPicPr>
          <p:cNvPr id="7" name="Εικόνα 6">
            <a:extLst>
              <a:ext uri="{FF2B5EF4-FFF2-40B4-BE49-F238E27FC236}">
                <a16:creationId xmlns:a16="http://schemas.microsoft.com/office/drawing/2014/main" id="{3AEA134B-1E93-426B-B309-73429B6BE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227" y="421342"/>
            <a:ext cx="4209533" cy="3564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8360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ADAA3A8-AB1A-4C0E-83C1-18DF22D28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GRU MODEL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423FF861-58D2-4EA5-8E10-B4D94ED0D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7039312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5868DF7-0EC0-439B-AC94-9DFBDE2E2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9" y="881050"/>
            <a:ext cx="9720072" cy="873522"/>
          </a:xfrm>
        </p:spPr>
        <p:txBody>
          <a:bodyPr/>
          <a:lstStyle/>
          <a:p>
            <a:r>
              <a:rPr lang="el-GR" dirty="0"/>
              <a:t>Η ΕΡΓΑΣΙΑ ΣΤΟ </a:t>
            </a:r>
            <a:r>
              <a:rPr lang="en-US" dirty="0"/>
              <a:t>GITHUB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81143FF-632A-44B1-A75D-754A0F963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1882587"/>
            <a:ext cx="9720073" cy="4652683"/>
          </a:xfrm>
        </p:spPr>
        <p:txBody>
          <a:bodyPr/>
          <a:lstStyle/>
          <a:p>
            <a:r>
              <a:rPr lang="en-US" dirty="0"/>
              <a:t>https://github.com/grgmyl/alibabacluster.git</a:t>
            </a:r>
          </a:p>
          <a:p>
            <a:endParaRPr lang="en-US" dirty="0"/>
          </a:p>
          <a:p>
            <a:endParaRPr lang="el-GR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B383B069-ED51-46B9-9E49-2D99EC0CC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3019" y="2446185"/>
            <a:ext cx="4311309" cy="3826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626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0544732C-F72A-4B10-A476-DD554BAD1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dirty="0" err="1"/>
              <a:t>Βιβλιογραφια</a:t>
            </a:r>
            <a:r>
              <a:rPr lang="el-GR" dirty="0"/>
              <a:t> 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5E1C9D1-088C-4907-A90D-A38F7FB2D5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https://www.geeksforgeeks.org/deep-learning/introduction-deep-learning/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https://www.geeksforgeeks.org/machine-learning/time-series-analysis-and-forecasting/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https://www.geeksforgeeks.org/time-series-forecasting-using-pytorch/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5261260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88A2F88-55C5-4ED1-9541-807C65424763}">
  <ds:schemaRefs>
    <ds:schemaRef ds:uri="http://purl.org/dc/elements/1.1/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71af3243-3dd4-4a8d-8c0d-dd76da1f02a5"/>
    <ds:schemaRef ds:uri="16c05727-aa75-4e4a-9b5f-8a80a1165891"/>
    <ds:schemaRef ds:uri="http://purl.org/dc/dcmitype/"/>
    <ds:schemaRef ds:uri="http://purl.org/dc/terms/"/>
    <ds:schemaRef ds:uri="http://schemas.microsoft.com/office/infopath/2007/PartnerControls"/>
    <ds:schemaRef ds:uri="http://schemas.openxmlformats.org/package/2006/metadata/core-properties"/>
  </ds:schemaRefs>
</ds:datastoreItem>
</file>

<file path=customXml/itemProps3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0</TotalTime>
  <Words>208</Words>
  <Application>Microsoft Office PowerPoint</Application>
  <PresentationFormat>Ευρεία οθόνη</PresentationFormat>
  <Paragraphs>36</Paragraphs>
  <Slides>10</Slides>
  <Notes>2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4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10</vt:i4>
      </vt:variant>
    </vt:vector>
  </HeadingPairs>
  <TitlesOfParts>
    <vt:vector size="15" baseType="lpstr">
      <vt:lpstr>Calibri</vt:lpstr>
      <vt:lpstr>Tw Cen MT</vt:lpstr>
      <vt:lpstr>Wingdings</vt:lpstr>
      <vt:lpstr>Wingdings 3</vt:lpstr>
      <vt:lpstr>Ολοκλήρωμα</vt:lpstr>
      <vt:lpstr>ΠΡΟΒΛΕΨΗ ΧΡΗΣΗΣ ΠΟΡΩΝ ΣΤΟ ALIBABA CLUSTER SET</vt:lpstr>
      <vt:lpstr>Στόχος Εργασίας</vt:lpstr>
      <vt:lpstr>ΒΙΒΛΙΟΘΗΚΕΣ</vt:lpstr>
      <vt:lpstr>ΤΟ ALIBABA CLUSTER DATASET</vt:lpstr>
      <vt:lpstr>Προεπεξεργασία(1)</vt:lpstr>
      <vt:lpstr>Προεπεξεργασία(2)</vt:lpstr>
      <vt:lpstr>LSTM MODEL</vt:lpstr>
      <vt:lpstr>GRU MODEL</vt:lpstr>
      <vt:lpstr>Η ΕΡΓΑΣΙΑ ΣΤΟ GITHUB</vt:lpstr>
      <vt:lpstr>Βιβλιογραφια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2026-03-27T16:25:58Z</dcterms:created>
  <dcterms:modified xsi:type="dcterms:W3CDTF">2026-03-29T18:38:32Z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