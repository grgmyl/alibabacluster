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77" r:id="rId6"/>
    <p:sldId id="291" r:id="rId7"/>
    <p:sldId id="281" r:id="rId8"/>
    <p:sldId id="278" r:id="rId9"/>
    <p:sldId id="279" r:id="rId10"/>
    <p:sldId id="287" r:id="rId11"/>
    <p:sldId id="280" r:id="rId12"/>
    <p:sldId id="288" r:id="rId13"/>
    <p:sldId id="289" r:id="rId14"/>
    <p:sldId id="283" r:id="rId15"/>
    <p:sldId id="286" r:id="rId16"/>
    <p:sldId id="282" r:id="rId17"/>
    <p:sldId id="285" r:id="rId18"/>
    <p:sldId id="284" r:id="rId19"/>
    <p:sldId id="290" r:id="rId20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Μεσαίο στυλ 2 - Έμφαση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31/3/2026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l-GR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l-GR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31/3/2026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just"/>
            <a:r>
              <a:rPr lang="el-GR" sz="4000" b="1" dirty="0">
                <a:solidFill>
                  <a:srgbClr val="FFFFFF"/>
                </a:solidFill>
              </a:rPr>
              <a:t>ΠΡΟΒΛΕΨΗ ΧΡΗΣΗΣ ΠΟΡΩΝ ΣΤΟ </a:t>
            </a:r>
            <a:r>
              <a:rPr lang="en-US" sz="4000" b="1" dirty="0">
                <a:solidFill>
                  <a:srgbClr val="FFFFFF"/>
                </a:solidFill>
              </a:rPr>
              <a:t>ALIBABA CLUSTER SET</a:t>
            </a:r>
            <a:endParaRPr lang="el-GR" sz="4000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l-GR" dirty="0">
                <a:solidFill>
                  <a:srgbClr val="FFFFFF"/>
                </a:solidFill>
              </a:rPr>
              <a:t>Έλενα Βίτσιου,1100502</a:t>
            </a:r>
          </a:p>
          <a:p>
            <a:pPr rtl="0"/>
            <a:r>
              <a:rPr lang="el-GR" dirty="0">
                <a:solidFill>
                  <a:srgbClr val="FFFFFF"/>
                </a:solidFill>
              </a:rPr>
              <a:t>Γεωργία Μυλωνά,1104783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dirty="0" err="1"/>
              <a:t>Στοχος</a:t>
            </a:r>
            <a:r>
              <a:rPr lang="el-GR" dirty="0"/>
              <a:t> </a:t>
            </a:r>
            <a:r>
              <a:rPr lang="el-GR" dirty="0" err="1"/>
              <a:t>Εργασιας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8B687F0-5495-459D-A6BB-5B2D80A95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Η εργασία αποσκοπεί στην πρόβλεψη της χρήσης πόρων σε </a:t>
            </a:r>
            <a:r>
              <a:rPr lang="en-US" dirty="0"/>
              <a:t>b</a:t>
            </a:r>
            <a:r>
              <a:rPr lang="el-GR" dirty="0" err="1"/>
              <a:t>are</a:t>
            </a:r>
            <a:r>
              <a:rPr lang="el-GR" dirty="0"/>
              <a:t> </a:t>
            </a:r>
            <a:r>
              <a:rPr lang="el-GR" dirty="0" err="1"/>
              <a:t>metal</a:t>
            </a:r>
            <a:r>
              <a:rPr lang="el-GR" dirty="0"/>
              <a:t> </a:t>
            </a:r>
            <a:r>
              <a:rPr lang="el-GR" dirty="0" err="1"/>
              <a:t>nodes</a:t>
            </a:r>
            <a:r>
              <a:rPr lang="el-GR" dirty="0"/>
              <a:t>, χρησιμοποιώντας </a:t>
            </a:r>
            <a:r>
              <a:rPr lang="el-GR" dirty="0" err="1"/>
              <a:t>time</a:t>
            </a:r>
            <a:r>
              <a:rPr lang="el-GR" dirty="0"/>
              <a:t> </a:t>
            </a:r>
            <a:r>
              <a:rPr lang="el-GR" dirty="0" err="1"/>
              <a:t>series</a:t>
            </a:r>
            <a:r>
              <a:rPr lang="el-GR" dirty="0"/>
              <a:t> </a:t>
            </a:r>
            <a:r>
              <a:rPr lang="el-GR" dirty="0" err="1"/>
              <a:t>data</a:t>
            </a:r>
            <a:r>
              <a:rPr lang="el-GR" dirty="0"/>
              <a:t> από CPU και RAM. </a:t>
            </a:r>
            <a:endParaRPr lang="en-US" dirty="0"/>
          </a:p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Σκοπός της παρόν εργασίας είναι η κατασκευή, η εκπαίδευση και ο έλεγχος (</a:t>
            </a:r>
            <a:r>
              <a:rPr lang="el-GR" dirty="0" err="1"/>
              <a:t>testing</a:t>
            </a:r>
            <a:r>
              <a:rPr lang="el-GR" dirty="0"/>
              <a:t>) μοντέλων πρόβλεψης για </a:t>
            </a:r>
            <a:r>
              <a:rPr lang="el-GR" dirty="0" err="1"/>
              <a:t>χρονοσειρές</a:t>
            </a:r>
            <a:r>
              <a:rPr lang="el-GR" dirty="0"/>
              <a:t> τόσο για μικρά όσο και μεγάλα διαστήματα (</a:t>
            </a:r>
            <a:r>
              <a:rPr lang="el-GR" dirty="0" err="1"/>
              <a:t>short-term</a:t>
            </a:r>
            <a:r>
              <a:rPr lang="el-GR" dirty="0"/>
              <a:t>, </a:t>
            </a:r>
            <a:r>
              <a:rPr lang="el-GR" dirty="0" err="1"/>
              <a:t>long-term</a:t>
            </a:r>
            <a:r>
              <a:rPr lang="el-GR" dirty="0"/>
              <a:t> </a:t>
            </a:r>
            <a:r>
              <a:rPr lang="el-GR" dirty="0" err="1"/>
              <a:t>prediction</a:t>
            </a:r>
            <a:r>
              <a:rPr lang="el-GR" dirty="0"/>
              <a:t>)</a:t>
            </a:r>
            <a:r>
              <a:rPr lang="en-US" dirty="0"/>
              <a:t>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6FE2BBD-AB75-4B79-B5E9-A83326D85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Εργαλεια</a:t>
            </a:r>
            <a:r>
              <a:rPr lang="el-GR" dirty="0"/>
              <a:t> που </a:t>
            </a:r>
            <a:r>
              <a:rPr lang="el-GR" dirty="0" err="1"/>
              <a:t>χρησιμοποιηθηκαν</a:t>
            </a:r>
            <a:endParaRPr lang="el-GR" dirty="0"/>
          </a:p>
        </p:txBody>
      </p:sp>
      <p:pic>
        <p:nvPicPr>
          <p:cNvPr id="4" name="Θέση περιεχομένου 3">
            <a:extLst>
              <a:ext uri="{FF2B5EF4-FFF2-40B4-BE49-F238E27FC236}">
                <a16:creationId xmlns:a16="http://schemas.microsoft.com/office/drawing/2014/main" id="{6DF8E1AA-A7C5-4F9D-BF36-DB26B8EF1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646" y="2787625"/>
            <a:ext cx="3371380" cy="2225233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3F0E3BE-0C15-401E-9260-97CDC0390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682313"/>
            <a:ext cx="2706345" cy="2750802"/>
          </a:xfrm>
          <a:prstGeom prst="rect">
            <a:avLst/>
          </a:prstGeom>
        </p:spPr>
      </p:pic>
      <p:pic>
        <p:nvPicPr>
          <p:cNvPr id="8" name="Εικόνα 7">
            <a:extLst>
              <a:ext uri="{FF2B5EF4-FFF2-40B4-BE49-F238E27FC236}">
                <a16:creationId xmlns:a16="http://schemas.microsoft.com/office/drawing/2014/main" id="{DF2E7F75-0938-4A20-9182-FADD0D3DE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2840092"/>
            <a:ext cx="3962400" cy="228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47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EA9875D-160F-46FA-BDE3-529AFED16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ΒΙΒΛΙΟΘΗΚΕΣ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2052E99-8256-4CF8-B3FA-B6B0F1C9E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Numpy</a:t>
            </a:r>
            <a:r>
              <a:rPr lang="en-US" dirty="0"/>
              <a:t> for working with arrays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Pandas</a:t>
            </a:r>
            <a:r>
              <a:rPr lang="en-US" dirty="0"/>
              <a:t> for working with relational or labeled data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Matplotlib</a:t>
            </a:r>
            <a:r>
              <a:rPr lang="en-US" dirty="0"/>
              <a:t> for data visualization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MinMaxScaler</a:t>
            </a:r>
            <a:r>
              <a:rPr lang="en-US" dirty="0"/>
              <a:t> for normalization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PyTorch</a:t>
            </a:r>
            <a:r>
              <a:rPr lang="en-US" dirty="0"/>
              <a:t> to build the neural network for training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Tensorflow</a:t>
            </a:r>
            <a:r>
              <a:rPr lang="en-US" dirty="0"/>
              <a:t> for</a:t>
            </a:r>
            <a:r>
              <a:rPr lang="el-GR" dirty="0"/>
              <a:t> </a:t>
            </a:r>
            <a:r>
              <a:rPr lang="en-US" dirty="0"/>
              <a:t>deep learning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Sequential</a:t>
            </a:r>
            <a:r>
              <a:rPr lang="en-US" dirty="0"/>
              <a:t> for model creation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GRU</a:t>
            </a:r>
            <a:r>
              <a:rPr lang="en-US" dirty="0"/>
              <a:t> layer for timeseries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Dense</a:t>
            </a:r>
            <a:r>
              <a:rPr lang="en-US" dirty="0"/>
              <a:t> final exit layer</a:t>
            </a:r>
            <a:endParaRPr lang="el-GR" dirty="0"/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064187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Εικόνα 2">
            <a:extLst>
              <a:ext uri="{FF2B5EF4-FFF2-40B4-BE49-F238E27FC236}">
                <a16:creationId xmlns:a16="http://schemas.microsoft.com/office/drawing/2014/main" id="{05B6AA2D-A20D-45A1-8538-5CF4858DD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40" y="1819835"/>
            <a:ext cx="10935824" cy="4661647"/>
          </a:xfrm>
          <a:prstGeom prst="rect">
            <a:avLst/>
          </a:prstGeom>
          <a:effectLst>
            <a:outerShdw blurRad="50800" dist="50800" dir="5400000" sx="5000" sy="5000" algn="ctr" rotWithShape="0">
              <a:srgbClr val="000000">
                <a:alpha val="43137"/>
              </a:srgbClr>
            </a:outerShdw>
          </a:effectLst>
        </p:spPr>
      </p:pic>
      <p:sp>
        <p:nvSpPr>
          <p:cNvPr id="2" name="Τίτλος 1">
            <a:extLst>
              <a:ext uri="{FF2B5EF4-FFF2-40B4-BE49-F238E27FC236}">
                <a16:creationId xmlns:a16="http://schemas.microsoft.com/office/drawing/2014/main" id="{0C475809-3183-44E6-BD92-8173E857E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ΤΟ</a:t>
            </a:r>
            <a:r>
              <a:rPr lang="en-US"/>
              <a:t> ALIBABA CLUSTER</a:t>
            </a:r>
            <a:r>
              <a:rPr lang="el-GR"/>
              <a:t> </a:t>
            </a:r>
            <a:r>
              <a:rPr lang="en-US"/>
              <a:t>DATASET</a:t>
            </a:r>
            <a:endParaRPr lang="el-GR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44A640C9-B839-4B46-B4A1-EE4DDE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273232" y="4365812"/>
            <a:ext cx="6203928" cy="1767033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68A2FBFC-2F6B-4DE8-A259-217535BBB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211909"/>
            <a:ext cx="3782458" cy="1382938"/>
          </a:xfrm>
          <a:prstGeom prst="rect">
            <a:avLst/>
          </a:prstGeom>
          <a:ln w="4762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717926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CC14BE-34A1-4F1C-97BF-ACAE7214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ΠροεπεξεργασΙα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AB85AA-ADCA-4ECF-A858-170C326FB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Αφαίρεση </a:t>
            </a:r>
            <a:r>
              <a:rPr lang="en-US" dirty="0"/>
              <a:t>duplicates</a:t>
            </a:r>
            <a:r>
              <a:rPr lang="el-GR" dirty="0"/>
              <a:t> με χρήση </a:t>
            </a:r>
            <a:r>
              <a:rPr lang="en-US" dirty="0" err="1"/>
              <a:t>drop_duplicates</a:t>
            </a:r>
            <a:r>
              <a:rPr lang="en-US" dirty="0"/>
              <a:t>()</a:t>
            </a:r>
            <a:r>
              <a:rPr lang="el-GR" dirty="0"/>
              <a:t>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Διαχείριση </a:t>
            </a:r>
            <a:r>
              <a:rPr lang="en-US" dirty="0"/>
              <a:t>missing values</a:t>
            </a:r>
            <a:r>
              <a:rPr lang="el-GR" dirty="0"/>
              <a:t>: Έλεγχος </a:t>
            </a:r>
            <a:r>
              <a:rPr lang="el-GR" dirty="0" err="1"/>
              <a:t>ελλειπών</a:t>
            </a:r>
            <a:r>
              <a:rPr lang="el-GR" dirty="0"/>
              <a:t> τιμών, γραμμική παρεμβολή για </a:t>
            </a:r>
            <a:r>
              <a:rPr lang="en-US" dirty="0"/>
              <a:t>missing values (interpolate(method= ‘linear’))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Αφαίρεση ακραίων τιμών με ορισμό συνάρτησης </a:t>
            </a:r>
            <a:r>
              <a:rPr lang="en-US" dirty="0" err="1"/>
              <a:t>remove_outliers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cols)</a:t>
            </a:r>
            <a:endParaRPr lang="el-GR" dirty="0"/>
          </a:p>
          <a:p>
            <a:pPr>
              <a:buFont typeface="Wingdings" panose="05000000000000000000" pitchFamily="2" charset="2"/>
              <a:buChar char="§"/>
            </a:pPr>
            <a:r>
              <a:rPr lang="el-GR" dirty="0" err="1"/>
              <a:t>Κανονικοποίηση</a:t>
            </a:r>
            <a:r>
              <a:rPr lang="el-GR" dirty="0"/>
              <a:t> [0,1] με χρήση  του </a:t>
            </a:r>
            <a:r>
              <a:rPr lang="en-US" dirty="0" err="1"/>
              <a:t>MinMaxscaler</a:t>
            </a:r>
            <a:endParaRPr lang="el-GR" dirty="0"/>
          </a:p>
          <a:p>
            <a:endParaRPr lang="en-US" dirty="0"/>
          </a:p>
          <a:p>
            <a:r>
              <a:rPr lang="el-GR" dirty="0"/>
              <a:t>Το καθαρό αρχείο αποθηκεύεται ως </a:t>
            </a:r>
            <a:r>
              <a:rPr lang="en-US" dirty="0"/>
              <a:t>cleaned_data.csv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035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B96315E-5C5C-4204-AF62-3CFC44A1C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Δημιουργια</a:t>
            </a:r>
            <a:r>
              <a:rPr lang="el-GR" dirty="0"/>
              <a:t> </a:t>
            </a:r>
            <a:r>
              <a:rPr lang="el-GR" dirty="0" err="1"/>
              <a:t>συγκεντρωτικησ</a:t>
            </a:r>
            <a:r>
              <a:rPr lang="el-GR" dirty="0"/>
              <a:t> </a:t>
            </a:r>
            <a:r>
              <a:rPr lang="el-GR" dirty="0" err="1"/>
              <a:t>χρονοσειρασ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A307192-E203-44FD-B7F3-F02C1578A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Το συγκεκριμένο </a:t>
            </a:r>
            <a:r>
              <a:rPr lang="en-US" dirty="0"/>
              <a:t>dataset </a:t>
            </a:r>
            <a:r>
              <a:rPr lang="el-GR" dirty="0"/>
              <a:t>περιείχε 10.283 διαφορετικά </a:t>
            </a:r>
            <a:r>
              <a:rPr lang="en-US" dirty="0"/>
              <a:t>machines.</a:t>
            </a:r>
            <a:r>
              <a:rPr lang="el-GR" dirty="0"/>
              <a:t>Οι επιμέρους </a:t>
            </a:r>
            <a:r>
              <a:rPr lang="el-GR" dirty="0" err="1"/>
              <a:t>χρονοσειρές</a:t>
            </a:r>
            <a:r>
              <a:rPr lang="el-GR" dirty="0"/>
              <a:t> ανά </a:t>
            </a:r>
            <a:r>
              <a:rPr lang="en-US" dirty="0" err="1"/>
              <a:t>machine_id</a:t>
            </a:r>
            <a:r>
              <a:rPr lang="en-US" dirty="0"/>
              <a:t> </a:t>
            </a:r>
            <a:r>
              <a:rPr lang="el-GR" dirty="0"/>
              <a:t>ήταν πολύ μικρές για την αξιόπιστη εκπαίδευση των μοντέλων βαθιάς μηχανικής μάθησης</a:t>
            </a:r>
            <a:r>
              <a:rPr lang="en-US" dirty="0"/>
              <a:t>.</a:t>
            </a:r>
            <a:r>
              <a:rPr lang="el-GR" dirty="0"/>
              <a:t> Η πρόβλεψη δεν πραγματοποιήθηκε σε επίπεδο μεμονωμένου </a:t>
            </a:r>
            <a:r>
              <a:rPr lang="en-US" dirty="0"/>
              <a:t>node, </a:t>
            </a:r>
            <a:r>
              <a:rPr lang="el-GR" dirty="0"/>
              <a:t>αλλά στη μέση χρήση πόρων του </a:t>
            </a:r>
            <a:r>
              <a:rPr lang="en-US" dirty="0"/>
              <a:t>cluster </a:t>
            </a:r>
            <a:r>
              <a:rPr lang="el-GR" dirty="0"/>
              <a:t>ανά χρονική στιγμή.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l-GR" dirty="0"/>
              <a:t> Για τον λόγο αυτό δημιουργήθηκε μια </a:t>
            </a:r>
            <a:r>
              <a:rPr lang="en-US" dirty="0"/>
              <a:t>aggregated series:</a:t>
            </a:r>
            <a:endParaRPr lang="el-GR" dirty="0"/>
          </a:p>
          <a:p>
            <a:pPr marL="0" indent="0">
              <a:buNone/>
            </a:pPr>
            <a:r>
              <a:rPr lang="el-GR" dirty="0"/>
              <a:t>  -ομαδοποίηση ανά </a:t>
            </a:r>
            <a:r>
              <a:rPr lang="en-US" dirty="0"/>
              <a:t>timestamp </a:t>
            </a:r>
          </a:p>
          <a:p>
            <a:pPr marL="0" indent="0">
              <a:buNone/>
            </a:pPr>
            <a:r>
              <a:rPr lang="el-GR" dirty="0"/>
              <a:t> -υπολογισμός μέσης τιμής </a:t>
            </a:r>
            <a:r>
              <a:rPr lang="en-US" dirty="0" err="1"/>
              <a:t>cpu_usage</a:t>
            </a:r>
            <a:r>
              <a:rPr lang="en-US" dirty="0"/>
              <a:t> </a:t>
            </a:r>
            <a:r>
              <a:rPr lang="el-GR" dirty="0"/>
              <a:t>και </a:t>
            </a:r>
            <a:r>
              <a:rPr lang="en-US" dirty="0" err="1"/>
              <a:t>memory_usage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968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8923C52-A216-4F3C-93C2-54C7753E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866" y="585216"/>
            <a:ext cx="9694333" cy="967201"/>
          </a:xfrm>
        </p:spPr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BE12BDC-C1D5-49BE-ACFF-00E2E3AB1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733" y="1930400"/>
            <a:ext cx="10549469" cy="4378960"/>
          </a:xfrm>
        </p:spPr>
        <p:txBody>
          <a:bodyPr/>
          <a:lstStyle/>
          <a:p>
            <a:endParaRPr lang="en-US" dirty="0"/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53010ACD-DFD6-466E-8DB6-CAD5606CF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373" y="1714637"/>
            <a:ext cx="1511693" cy="2129259"/>
          </a:xfrm>
          <a:prstGeom prst="rect">
            <a:avLst/>
          </a:prstGeom>
        </p:spPr>
      </p:pic>
      <p:sp>
        <p:nvSpPr>
          <p:cNvPr id="10" name="Ορθογώνιο 9">
            <a:extLst>
              <a:ext uri="{FF2B5EF4-FFF2-40B4-BE49-F238E27FC236}">
                <a16:creationId xmlns:a16="http://schemas.microsoft.com/office/drawing/2014/main" id="{7B6A2F29-4920-40EB-A528-000ECEC0940F}"/>
              </a:ext>
            </a:extLst>
          </p:cNvPr>
          <p:cNvSpPr/>
          <p:nvPr/>
        </p:nvSpPr>
        <p:spPr>
          <a:xfrm>
            <a:off x="6814047" y="4181945"/>
            <a:ext cx="484181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</a:t>
            </a:r>
            <a:r>
              <a:rPr lang="en-US" dirty="0" err="1"/>
              <a:t>cpu_usage</a:t>
            </a:r>
            <a:r>
              <a:rPr lang="el-GR" dirty="0"/>
              <a:t> εμφανίζει μεγαλύτερη διακύμανση.</a:t>
            </a:r>
            <a:r>
              <a:rPr lang="en-US" dirty="0"/>
              <a:t> </a:t>
            </a:r>
            <a:r>
              <a:rPr lang="el-GR" dirty="0"/>
              <a:t>Η </a:t>
            </a:r>
            <a:r>
              <a:rPr lang="en-US" dirty="0" err="1"/>
              <a:t>memory_usage</a:t>
            </a:r>
            <a:r>
              <a:rPr lang="en-US" dirty="0"/>
              <a:t> </a:t>
            </a:r>
            <a:r>
              <a:rPr lang="el-GR" dirty="0"/>
              <a:t>είναι πολύ πιο σταθερή, με μικρό εύρος τιμών και χαμηλή τυπική απόκλιση.</a:t>
            </a:r>
          </a:p>
          <a:p>
            <a:pPr marL="285750" indent="-285750" algn="just"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CPU είναι πιο προβλέψιμη, επειδή παρουσιάζει μεγαλύτερη μεταβλητότητα, ισχυρότερη </a:t>
            </a:r>
            <a:r>
              <a:rPr lang="el-GR" dirty="0" err="1"/>
              <a:t>αυτοσυσχέτιση</a:t>
            </a:r>
            <a:r>
              <a:rPr lang="el-GR" dirty="0"/>
              <a:t> και πιο καθαρή χρονική δομή από τη μνήμη.</a:t>
            </a:r>
          </a:p>
        </p:txBody>
      </p:sp>
      <p:pic>
        <p:nvPicPr>
          <p:cNvPr id="12" name="Θέση περιεχομένου 3">
            <a:extLst>
              <a:ext uri="{FF2B5EF4-FFF2-40B4-BE49-F238E27FC236}">
                <a16:creationId xmlns:a16="http://schemas.microsoft.com/office/drawing/2014/main" id="{2955BDBE-CE22-4378-AA7E-43DAC086C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7" y="1763345"/>
            <a:ext cx="4964674" cy="2443630"/>
          </a:xfrm>
          <a:prstGeom prst="rect">
            <a:avLst/>
          </a:prstGeom>
        </p:spPr>
      </p:pic>
      <p:sp>
        <p:nvSpPr>
          <p:cNvPr id="13" name="Ορθογώνιο 12">
            <a:extLst>
              <a:ext uri="{FF2B5EF4-FFF2-40B4-BE49-F238E27FC236}">
                <a16:creationId xmlns:a16="http://schemas.microsoft.com/office/drawing/2014/main" id="{EAAE0A07-DF66-4842-A82B-A65C0B08D5C5}"/>
              </a:ext>
            </a:extLst>
          </p:cNvPr>
          <p:cNvSpPr/>
          <p:nvPr/>
        </p:nvSpPr>
        <p:spPr>
          <a:xfrm>
            <a:off x="504110" y="4206975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Η </a:t>
            </a:r>
            <a:r>
              <a:rPr lang="el-GR" dirty="0" err="1"/>
              <a:t>χρονοσειρά</a:t>
            </a:r>
            <a:r>
              <a:rPr lang="el-GR" dirty="0"/>
              <a:t> της CPU παρουσιάζει: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σαφή τάση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έντονη μεταβλητότητα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ισχυρή χρονική εξάρτηση</a:t>
            </a:r>
          </a:p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Η </a:t>
            </a:r>
            <a:r>
              <a:rPr lang="el-GR" dirty="0" err="1"/>
              <a:t>χρονοσειρά</a:t>
            </a:r>
            <a:r>
              <a:rPr lang="el-GR" dirty="0"/>
              <a:t> της μνήμης παρουσιάζει: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πιο ομαλή συμπεριφορά ,μικρότερη μεταβλητότητα</a:t>
            </a:r>
          </a:p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ασθενέστερο </a:t>
            </a:r>
            <a:r>
              <a:rPr lang="el-GR" dirty="0" err="1"/>
              <a:t>forecasting</a:t>
            </a:r>
            <a:r>
              <a:rPr lang="el-GR" dirty="0"/>
              <a:t> </a:t>
            </a:r>
          </a:p>
          <a:p>
            <a:pPr algn="just">
              <a:buClr>
                <a:schemeClr val="accent2">
                  <a:lumMod val="75000"/>
                </a:schemeClr>
              </a:buClr>
            </a:pPr>
            <a:r>
              <a:rPr lang="el-GR" dirty="0"/>
              <a:t>Οι δύο μεταβλητές έχουν διαφορετική χρονική δομή και επομένως διαφορετικό βαθμό </a:t>
            </a:r>
            <a:r>
              <a:rPr lang="el-GR" dirty="0" err="1"/>
              <a:t>προβλεψιμότητας</a:t>
            </a:r>
            <a:r>
              <a:rPr lang="el-G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492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8481AEB-32E9-4EF1-971D-A85E64839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(2)</a:t>
            </a:r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88FF4872-EC54-492C-BFB4-A6147E2E7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4" y="2006600"/>
            <a:ext cx="7247082" cy="4266184"/>
          </a:xfrm>
          <a:prstGeom prst="rect">
            <a:avLst/>
          </a:prstGeom>
        </p:spPr>
      </p:pic>
      <p:sp>
        <p:nvSpPr>
          <p:cNvPr id="11" name="Ορθογώνιο 10">
            <a:extLst>
              <a:ext uri="{FF2B5EF4-FFF2-40B4-BE49-F238E27FC236}">
                <a16:creationId xmlns:a16="http://schemas.microsoft.com/office/drawing/2014/main" id="{B912425B-3124-4394-9966-CF639D761A45}"/>
              </a:ext>
            </a:extLst>
          </p:cNvPr>
          <p:cNvSpPr/>
          <p:nvPr/>
        </p:nvSpPr>
        <p:spPr>
          <a:xfrm>
            <a:off x="7696200" y="2006600"/>
            <a:ext cx="391102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Το </a:t>
            </a:r>
            <a:r>
              <a:rPr lang="el-GR" b="1" dirty="0" err="1"/>
              <a:t>decomposition</a:t>
            </a:r>
            <a:r>
              <a:rPr lang="el-GR" dirty="0"/>
              <a:t> διαχώρισε  κάθε </a:t>
            </a:r>
            <a:r>
              <a:rPr lang="el-GR" dirty="0" err="1"/>
              <a:t>χρονοσειρά</a:t>
            </a:r>
            <a:r>
              <a:rPr lang="el-GR" dirty="0"/>
              <a:t> σε τέσσερα μέρη:</a:t>
            </a:r>
          </a:p>
          <a:p>
            <a:pPr algn="just"/>
            <a:r>
              <a:rPr lang="el-GR" b="1" dirty="0" err="1"/>
              <a:t>Original</a:t>
            </a:r>
            <a:r>
              <a:rPr lang="el-GR" dirty="0"/>
              <a:t>: η αρχική σειρά </a:t>
            </a:r>
          </a:p>
          <a:p>
            <a:pPr algn="just"/>
            <a:r>
              <a:rPr lang="el-GR" b="1" dirty="0" err="1"/>
              <a:t>Trend</a:t>
            </a:r>
            <a:r>
              <a:rPr lang="el-GR" dirty="0"/>
              <a:t>: η μακροχρόνια τάση</a:t>
            </a:r>
          </a:p>
          <a:p>
            <a:pPr algn="just"/>
            <a:r>
              <a:rPr lang="el-GR" b="1" dirty="0" err="1"/>
              <a:t>Seasonal</a:t>
            </a:r>
            <a:r>
              <a:rPr lang="el-GR" dirty="0" err="1"/>
              <a:t>:η</a:t>
            </a:r>
            <a:r>
              <a:rPr lang="el-GR" dirty="0"/>
              <a:t> επαναλαμβανόμενη περιοδική συμπεριφορά</a:t>
            </a:r>
          </a:p>
          <a:p>
            <a:pPr algn="just"/>
            <a:r>
              <a:rPr lang="el-GR" b="1" dirty="0" err="1"/>
              <a:t>Residual</a:t>
            </a:r>
            <a:r>
              <a:rPr lang="el-GR" dirty="0"/>
              <a:t>: ο θόρυβος ή ό,τι δεν εξηγείται από </a:t>
            </a:r>
            <a:r>
              <a:rPr lang="el-GR" dirty="0" err="1"/>
              <a:t>trend</a:t>
            </a:r>
            <a:r>
              <a:rPr lang="el-GR" dirty="0"/>
              <a:t> και </a:t>
            </a:r>
            <a:r>
              <a:rPr lang="el-GR" dirty="0" err="1"/>
              <a:t>seasonality</a:t>
            </a:r>
            <a:r>
              <a:rPr lang="el-GR" dirty="0"/>
              <a:t>.</a:t>
            </a:r>
          </a:p>
          <a:p>
            <a:pPr algn="just"/>
            <a:r>
              <a:rPr lang="el-GR" dirty="0"/>
              <a:t>Η CPU έχει ισχυρότερη τάση, καθαρότερη εποχικότητα και ισχυρότερη χρονική </a:t>
            </a:r>
            <a:r>
              <a:rPr lang="el-GR" dirty="0" err="1"/>
              <a:t>εξάρτηση.Η</a:t>
            </a:r>
            <a:r>
              <a:rPr lang="el-GR" dirty="0"/>
              <a:t> Memory είναι πιο επίπεδη, με ασθενέστερη τάση και μικρότερη </a:t>
            </a:r>
            <a:r>
              <a:rPr lang="el-GR" dirty="0" err="1"/>
              <a:t>εποχικότητα.Επομένως</a:t>
            </a:r>
            <a:r>
              <a:rPr lang="el-GR" dirty="0"/>
              <a:t> η CPU αναμένεται να είναι πιο κατάλληλη για </a:t>
            </a:r>
            <a:r>
              <a:rPr lang="el-GR" dirty="0" err="1"/>
              <a:t>forecasting</a:t>
            </a:r>
            <a:r>
              <a:rPr lang="el-GR" dirty="0"/>
              <a:t> από τη μνήμη.</a:t>
            </a:r>
          </a:p>
        </p:txBody>
      </p:sp>
    </p:spTree>
    <p:extLst>
      <p:ext uri="{BB962C8B-B14F-4D97-AF65-F5344CB8AC3E}">
        <p14:creationId xmlns:p14="http://schemas.microsoft.com/office/powerpoint/2010/main" val="530243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D5EEF79-CE81-4705-A513-7CB9BABAC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Η </a:t>
            </a:r>
            <a:r>
              <a:rPr lang="el-GR" dirty="0" err="1"/>
              <a:t>αναλυση</a:t>
            </a:r>
            <a:r>
              <a:rPr lang="el-GR" dirty="0"/>
              <a:t> των </a:t>
            </a:r>
            <a:r>
              <a:rPr lang="el-GR" dirty="0" err="1"/>
              <a:t>δεδομενων</a:t>
            </a:r>
            <a:r>
              <a:rPr lang="el-GR" dirty="0"/>
              <a:t>(3)</a:t>
            </a:r>
          </a:p>
        </p:txBody>
      </p:sp>
      <p:pic>
        <p:nvPicPr>
          <p:cNvPr id="4" name="Θέση περιεχομένου 3">
            <a:extLst>
              <a:ext uri="{FF2B5EF4-FFF2-40B4-BE49-F238E27FC236}">
                <a16:creationId xmlns:a16="http://schemas.microsoft.com/office/drawing/2014/main" id="{1896197E-5A56-4E4C-A8D5-28CE01741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8389" y="1870398"/>
            <a:ext cx="7591756" cy="2141448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6D6ED03-4C0B-4CDF-94D3-104FD1005CDD}"/>
              </a:ext>
            </a:extLst>
          </p:cNvPr>
          <p:cNvSpPr/>
          <p:nvPr/>
        </p:nvSpPr>
        <p:spPr>
          <a:xfrm>
            <a:off x="440267" y="4253637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ACF της CPU δείχνει πολύ ισχυρή θετική </a:t>
            </a:r>
            <a:r>
              <a:rPr lang="el-GR" dirty="0" err="1"/>
              <a:t>αυτοσυσχέτιση</a:t>
            </a:r>
            <a:r>
              <a:rPr lang="el-GR" dirty="0"/>
              <a:t> για μεγάλο αριθμό </a:t>
            </a:r>
            <a:r>
              <a:rPr lang="el-GR" dirty="0" err="1"/>
              <a:t>lags</a:t>
            </a:r>
            <a:r>
              <a:rPr lang="el-GR" dirty="0"/>
              <a:t>. Οι τιμές παραμένουν υψηλές και μειώνονται αργά όσο αυξάνει το </a:t>
            </a:r>
            <a:r>
              <a:rPr lang="el-GR" dirty="0" err="1"/>
              <a:t>lag</a:t>
            </a:r>
            <a:r>
              <a:rPr lang="el-GR" dirty="0"/>
              <a:t>. Αυτό σημαίνει ότι η τρέχουσα τιμή της CPU εξαρτάται έντονα από τις προηγούμενες τιμές της, άρα η σειρά έχει ισχυρή χρονική μνήμη.</a:t>
            </a:r>
          </a:p>
        </p:txBody>
      </p:sp>
      <p:sp>
        <p:nvSpPr>
          <p:cNvPr id="7" name="Ορθογώνιο 6">
            <a:extLst>
              <a:ext uri="{FF2B5EF4-FFF2-40B4-BE49-F238E27FC236}">
                <a16:creationId xmlns:a16="http://schemas.microsoft.com/office/drawing/2014/main" id="{234601AE-B16F-4819-929E-20374D193181}"/>
              </a:ext>
            </a:extLst>
          </p:cNvPr>
          <p:cNvSpPr/>
          <p:nvPr/>
        </p:nvSpPr>
        <p:spPr>
          <a:xfrm>
            <a:off x="6695519" y="4253636"/>
            <a:ext cx="425140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l-GR" dirty="0"/>
              <a:t>Η μνήμη εμφανίζει πολύ ασθενέστερη </a:t>
            </a:r>
            <a:r>
              <a:rPr lang="el-GR" dirty="0" err="1"/>
              <a:t>αυτοσυσχέτιση</a:t>
            </a:r>
            <a:r>
              <a:rPr lang="el-GR" dirty="0"/>
              <a:t>, γεγονός που υποδηλώνει μικρότερη </a:t>
            </a:r>
            <a:r>
              <a:rPr lang="el-GR" dirty="0" err="1"/>
              <a:t>προβλεψιμότητα</a:t>
            </a:r>
            <a:r>
              <a:rPr lang="el-G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018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ADAA3A8-AB1A-4C0E-83C1-18DF22D2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 MODEL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423FF861-58D2-4EA5-8E10-B4D94ED0D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28" y="2023533"/>
            <a:ext cx="9720073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i="1" dirty="0"/>
              <a:t>Data Preparation:</a:t>
            </a:r>
          </a:p>
          <a:p>
            <a:pPr marL="0" indent="0">
              <a:buNone/>
            </a:pPr>
            <a:r>
              <a:rPr lang="el-GR" dirty="0"/>
              <a:t>Βάζουμε σε πίνακα μόνο </a:t>
            </a:r>
            <a:r>
              <a:rPr lang="en-US" b="1" dirty="0"/>
              <a:t>CPU &amp; Memory usage</a:t>
            </a:r>
          </a:p>
          <a:p>
            <a:pPr marL="0" indent="0">
              <a:buNone/>
            </a:pPr>
            <a:r>
              <a:rPr lang="el-GR" dirty="0"/>
              <a:t>Μετατροπή </a:t>
            </a:r>
            <a:r>
              <a:rPr lang="el-GR" dirty="0" err="1"/>
              <a:t>χρονοσειράς</a:t>
            </a:r>
            <a:r>
              <a:rPr lang="el-GR" dirty="0"/>
              <a:t> σε </a:t>
            </a:r>
            <a:r>
              <a:rPr lang="en-US" b="1" dirty="0"/>
              <a:t>sequences</a:t>
            </a:r>
            <a:r>
              <a:rPr lang="en-US" dirty="0"/>
              <a:t> (sliding window)</a:t>
            </a:r>
          </a:p>
          <a:p>
            <a:pPr marL="0" indent="0">
              <a:buNone/>
            </a:pPr>
            <a:r>
              <a:rPr lang="el-GR" dirty="0"/>
              <a:t>Μήκος εισόδου: 20 χρονικά βήματα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Δημιουργία </a:t>
            </a:r>
            <a:r>
              <a:rPr lang="el-GR" b="1" dirty="0"/>
              <a:t>στόχων πρόβλεψης </a:t>
            </a:r>
            <a:r>
              <a:rPr lang="el-GR" dirty="0"/>
              <a:t>(</a:t>
            </a:r>
            <a:r>
              <a:rPr lang="en-US" dirty="0"/>
              <a:t>future horizons):</a:t>
            </a:r>
          </a:p>
          <a:p>
            <a:pPr marL="0" indent="0">
              <a:buNone/>
            </a:pPr>
            <a:r>
              <a:rPr lang="en-US" dirty="0"/>
              <a:t>    Short-term: 5 timesteps </a:t>
            </a:r>
          </a:p>
          <a:p>
            <a:pPr marL="0" indent="0">
              <a:buNone/>
            </a:pPr>
            <a:r>
              <a:rPr lang="en-US" dirty="0"/>
              <a:t>    Long-term: 15 timesteps</a:t>
            </a:r>
          </a:p>
          <a:p>
            <a:pPr marL="0" indent="0">
              <a:buNone/>
            </a:pPr>
            <a:r>
              <a:rPr lang="el-GR" dirty="0"/>
              <a:t>Διαχωρισμός δεδομένων σε </a:t>
            </a:r>
            <a:r>
              <a:rPr lang="en-US" b="1" dirty="0"/>
              <a:t>train</a:t>
            </a:r>
            <a:r>
              <a:rPr lang="en-US" dirty="0"/>
              <a:t> (80%) </a:t>
            </a:r>
            <a:r>
              <a:rPr lang="el-GR" dirty="0"/>
              <a:t>και </a:t>
            </a:r>
            <a:r>
              <a:rPr lang="en-US" b="1" dirty="0"/>
              <a:t>test</a:t>
            </a:r>
            <a:r>
              <a:rPr lang="en-US" dirty="0"/>
              <a:t> (20%)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03931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6ED07-6015-7A53-9D90-68132B33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E89994D-2E3C-F1EF-DDE7-9B0098B8F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 MODEL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70724D-984D-EF81-CD83-AF6D91AD9A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7881" y="2021659"/>
            <a:ext cx="5173133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l-GR" sz="24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Training and Evaluation: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Εκπαίδευση μοντέλου:</a:t>
            </a:r>
            <a:endParaRPr kumimoji="0" lang="en-US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Lookback: 24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Epochs: </a:t>
            </a: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20</a:t>
            </a:r>
            <a:endParaRPr kumimoji="0" lang="en-US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Batch size: 32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Εκπαίδευση σε δύο σενάρια: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Short-term prediction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Long-term prediction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Αξιολόγηση με: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l-GR" dirty="0"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MSE (Mean Squared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MAE (Mean Absolute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l-G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  MAPE (Mean Absolute Percentage Error)</a:t>
            </a: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377445F-C128-4F82-83A4-7A7F58FFD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701" y="4471586"/>
            <a:ext cx="2482499" cy="1873367"/>
          </a:xfrm>
          <a:prstGeom prst="rect">
            <a:avLst/>
          </a:prstGeo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D61DBE5A-E23C-4F3C-8263-13ADAE0D6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666" y="1102265"/>
            <a:ext cx="5173133" cy="291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65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718DFC3-34AC-4DEC-8EB8-A30B31F8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 MODEL</a:t>
            </a:r>
            <a:endParaRPr lang="el-GR" dirty="0"/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E7F2AFED-2659-4589-AD07-00FB7AE58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847" y="1905558"/>
            <a:ext cx="5491881" cy="2693336"/>
          </a:xfrm>
          <a:prstGeom prst="rect">
            <a:avLst/>
          </a:prstGeom>
        </p:spPr>
      </p:pic>
      <p:pic>
        <p:nvPicPr>
          <p:cNvPr id="8" name="Εικόνα 7">
            <a:extLst>
              <a:ext uri="{FF2B5EF4-FFF2-40B4-BE49-F238E27FC236}">
                <a16:creationId xmlns:a16="http://schemas.microsoft.com/office/drawing/2014/main" id="{D92D86BE-B280-4B5F-A39B-CE50943AF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9000"/>
            <a:ext cx="5549152" cy="3026810"/>
          </a:xfrm>
          <a:prstGeom prst="rect">
            <a:avLst/>
          </a:prstGeom>
        </p:spPr>
      </p:pic>
      <p:pic>
        <p:nvPicPr>
          <p:cNvPr id="9" name="Εικόνα 8">
            <a:extLst>
              <a:ext uri="{FF2B5EF4-FFF2-40B4-BE49-F238E27FC236}">
                <a16:creationId xmlns:a16="http://schemas.microsoft.com/office/drawing/2014/main" id="{14CC2562-788A-417A-B6B4-0D56C2D9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45" y="5658577"/>
            <a:ext cx="3658210" cy="521317"/>
          </a:xfrm>
          <a:prstGeom prst="rect">
            <a:avLst/>
          </a:prstGeom>
        </p:spPr>
      </p:pic>
      <p:sp>
        <p:nvSpPr>
          <p:cNvPr id="12" name="Ορθογώνιο 11">
            <a:extLst>
              <a:ext uri="{FF2B5EF4-FFF2-40B4-BE49-F238E27FC236}">
                <a16:creationId xmlns:a16="http://schemas.microsoft.com/office/drawing/2014/main" id="{C3E56900-18D7-4786-9AAC-3CFAD6DEC093}"/>
              </a:ext>
            </a:extLst>
          </p:cNvPr>
          <p:cNvSpPr/>
          <p:nvPr/>
        </p:nvSpPr>
        <p:spPr>
          <a:xfrm>
            <a:off x="6910456" y="1443317"/>
            <a:ext cx="3363097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Εκπαίδευση μοντέλου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Lookback = 24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Epochs = 40</a:t>
            </a:r>
          </a:p>
          <a:p>
            <a:pPr marL="342900" indent="-342900">
              <a:buClr>
                <a:schemeClr val="accent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Batch size = 16</a:t>
            </a:r>
            <a:endParaRPr lang="el-G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Ορθογώνιο 12">
            <a:extLst>
              <a:ext uri="{FF2B5EF4-FFF2-40B4-BE49-F238E27FC236}">
                <a16:creationId xmlns:a16="http://schemas.microsoft.com/office/drawing/2014/main" id="{4FA0BB24-71A6-454E-A258-FB1392A55673}"/>
              </a:ext>
            </a:extLst>
          </p:cNvPr>
          <p:cNvSpPr/>
          <p:nvPr/>
        </p:nvSpPr>
        <p:spPr>
          <a:xfrm>
            <a:off x="730748" y="5104708"/>
            <a:ext cx="3363097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Αξιολόγηση σφαλμάτων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l-G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7836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5868DF7-0EC0-439B-AC94-9DFBDE2E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9" y="881050"/>
            <a:ext cx="9720072" cy="873522"/>
          </a:xfrm>
        </p:spPr>
        <p:txBody>
          <a:bodyPr/>
          <a:lstStyle/>
          <a:p>
            <a:r>
              <a:rPr lang="el-GR" dirty="0"/>
              <a:t>Η ΕΡΓΑΣΙΑ ΣΤΟ </a:t>
            </a:r>
            <a:r>
              <a:rPr lang="en-US" dirty="0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81143FF-632A-44B1-A75D-754A0F963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82587"/>
            <a:ext cx="9720073" cy="4652683"/>
          </a:xfrm>
        </p:spPr>
        <p:txBody>
          <a:bodyPr/>
          <a:lstStyle/>
          <a:p>
            <a:r>
              <a:rPr lang="en-US" dirty="0"/>
              <a:t>https://github.com/grgmyl/alibabacluster.git</a:t>
            </a:r>
          </a:p>
          <a:p>
            <a:endParaRPr lang="en-US" dirty="0"/>
          </a:p>
          <a:p>
            <a:endParaRPr lang="el-GR" dirty="0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D0DF6CF2-46F9-4387-8D15-9BF09197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31" y="2611482"/>
            <a:ext cx="4036432" cy="336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6260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544732C-F72A-4B10-A476-DD554BAD1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Βιβλιογραφια</a:t>
            </a:r>
            <a:r>
              <a:rPr lang="el-GR" dirty="0"/>
              <a:t> 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5E1C9D1-088C-4907-A90D-A38F7FB2D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https://www.geeksforgeeks.org/deep-learning/introduction-deep-learning/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https://www.geeksforgeeks.org/machine-learning/time-series-analysis-and-forecasting/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https://www.geeksforgeeks.org/time-series-forecasting-using-pytorch/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https://www.tensorflow.org/guide/keras/training_with_built_in_methods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52612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C2F603-2F6B-4ADD-BE29-1717163F20BC}"/>
              </a:ext>
            </a:extLst>
          </p:cNvPr>
          <p:cNvSpPr txBox="1"/>
          <p:nvPr/>
        </p:nvSpPr>
        <p:spPr>
          <a:xfrm>
            <a:off x="3666564" y="2850775"/>
            <a:ext cx="457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600" b="1" dirty="0"/>
              <a:t>ΕΥΧΑΡΙΣΤΟΥΜΕ ΠΟΛΥ!</a:t>
            </a:r>
          </a:p>
        </p:txBody>
      </p:sp>
    </p:spTree>
    <p:extLst>
      <p:ext uri="{BB962C8B-B14F-4D97-AF65-F5344CB8AC3E}">
        <p14:creationId xmlns:p14="http://schemas.microsoft.com/office/powerpoint/2010/main" val="17457619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purl.org/dc/terms/"/>
    <ds:schemaRef ds:uri="http://purl.org/dc/elements/1.1/"/>
    <ds:schemaRef ds:uri="http://schemas.microsoft.com/office/2006/metadata/properties"/>
    <ds:schemaRef ds:uri="16c05727-aa75-4e4a-9b5f-8a80a1165891"/>
    <ds:schemaRef ds:uri="71af3243-3dd4-4a8d-8c0d-dd76da1f02a5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0</TotalTime>
  <Words>729</Words>
  <Application>Microsoft Office PowerPoint</Application>
  <PresentationFormat>Ευρεία οθόνη</PresentationFormat>
  <Paragraphs>90</Paragraphs>
  <Slides>16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16</vt:i4>
      </vt:variant>
    </vt:vector>
  </HeadingPairs>
  <TitlesOfParts>
    <vt:vector size="22" baseType="lpstr">
      <vt:lpstr>Arial</vt:lpstr>
      <vt:lpstr>Calibri</vt:lpstr>
      <vt:lpstr>Tw Cen MT</vt:lpstr>
      <vt:lpstr>Wingdings</vt:lpstr>
      <vt:lpstr>Wingdings 3</vt:lpstr>
      <vt:lpstr>Ολοκλήρωμα</vt:lpstr>
      <vt:lpstr>ΠΡΟΒΛΕΨΗ ΧΡΗΣΗΣ ΠΟΡΩΝ ΣΤΟ ALIBABA CLUSTER SET</vt:lpstr>
      <vt:lpstr>Στοχος Εργασιας</vt:lpstr>
      <vt:lpstr>Εργαλεια που χρησιμοποιηθηκαν</vt:lpstr>
      <vt:lpstr>ΒΙΒΛΙΟΘΗΚΕΣ</vt:lpstr>
      <vt:lpstr>ΤΟ ALIBABA CLUSTER DATASET</vt:lpstr>
      <vt:lpstr>Η ΠροεπεξεργασΙα των δεδομενων</vt:lpstr>
      <vt:lpstr>Δημιουργια συγκεντρωτικησ χρονοσειρασ</vt:lpstr>
      <vt:lpstr>Η Αναλυση των δεδομενων(1)</vt:lpstr>
      <vt:lpstr>Η Αναλυση των δεδομενων(2)</vt:lpstr>
      <vt:lpstr>Η αναλυση των δεδομενων(3)</vt:lpstr>
      <vt:lpstr>GRU MODEL</vt:lpstr>
      <vt:lpstr>GRU MODEL</vt:lpstr>
      <vt:lpstr>LSTM MODEL</vt:lpstr>
      <vt:lpstr>Η ΕΡΓΑΣΙΑ ΣΤΟ GITHUB</vt:lpstr>
      <vt:lpstr>Βιβλιογραφια 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2026-03-27T16:25:58Z</dcterms:created>
  <dcterms:modified xsi:type="dcterms:W3CDTF">2026-03-31T19:55:31Z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